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21.png"/><Relationship Id="rId11" Type="http://schemas.openxmlformats.org/officeDocument/2006/relationships/image" Target="../media/image37.png"/><Relationship Id="rId12" Type="http://schemas.openxmlformats.org/officeDocument/2006/relationships/image" Target="../media/image23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13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21.png"/><Relationship Id="rId11" Type="http://schemas.openxmlformats.org/officeDocument/2006/relationships/image" Target="../media/image23.png"/><Relationship Id="rId12" Type="http://schemas.openxmlformats.org/officeDocument/2006/relationships/image" Target="../media/image38.png"/><Relationship Id="rId13" Type="http://schemas.openxmlformats.org/officeDocument/2006/relationships/image" Target="../media/image26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21.png"/><Relationship Id="rId16" Type="http://schemas.openxmlformats.org/officeDocument/2006/relationships/image" Target="../media/image70.png"/><Relationship Id="rId17" Type="http://schemas.openxmlformats.org/officeDocument/2006/relationships/image" Target="../media/image38.png"/><Relationship Id="rId18" Type="http://schemas.openxmlformats.org/officeDocument/2006/relationships/image" Target="../media/image7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13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21.png"/><Relationship Id="rId10" Type="http://schemas.openxmlformats.org/officeDocument/2006/relationships/image" Target="../media/image77.png"/><Relationship Id="rId11" Type="http://schemas.openxmlformats.org/officeDocument/2006/relationships/image" Target="../media/image23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0" y="345281"/>
            <a:ext cx="2590800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92893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790" y="2426493"/>
            <a:ext cx="4450109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443162"/>
            <a:ext cx="2266950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4229100"/>
            <a:ext cx="2161579" cy="600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5929" y="4229100"/>
            <a:ext cx="2161579" cy="600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2759" y="4229100"/>
            <a:ext cx="2161579" cy="600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9100" y="6496050"/>
            <a:ext cx="2466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Smart India Hackathon 2026 • Idea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2150" y="6496050"/>
            <a:ext cx="2190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Team MaaSathi • IBM SkillsBuild Certified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6387" y="285750"/>
            <a:ext cx="2510879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SMART INDIA HACKATHON 2026</a:t>
            </a:r>
            <a:r>
              <a:t>
</a:t>
            </a:r>
            <a:r>
              <a:rPr b="1" sz="1125" i="0" u="none">
                <a:solidFill>
                  <a:srgbClr val="EA580C"/>
                </a:solidFill>
                <a:latin typeface="Poppins"/>
              </a:rPr>
              <a:t>IBM SkillsBuild Innovation Track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378618"/>
            <a:ext cx="109537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9100" y="2776537"/>
            <a:ext cx="7008844" cy="832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0" sz="2850" i="0" u="none">
                <a:solidFill>
                  <a:srgbClr val="0B1A30"/>
                </a:solidFill>
                <a:latin typeface="Poppins ExtraBold"/>
              </a:rPr>
              <a:t>MaaSathi: Maternal &amp; Newborn Care Companion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3704034"/>
            <a:ext cx="667509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An AI-driven clinical intelligence and digital healthcare system delivering evidence-based antenatal guidance, automated vaccine schedules, FHIR health vaults, and peer birth clubs.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4740" y="2607468"/>
            <a:ext cx="3888134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0F62FE"/>
                </a:solidFill>
                <a:latin typeface="Poppins"/>
              </a:rPr>
              <a:t>Submission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2815" y="2940843"/>
            <a:ext cx="4050059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Problem Statement ID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SIH2026-MED-048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2815" y="3150393"/>
            <a:ext cx="4050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2815" y="3255168"/>
            <a:ext cx="4050059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PS Title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Smart Maternal &amp; Child Health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22815" y="3464718"/>
            <a:ext cx="4050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2815" y="3569493"/>
            <a:ext cx="4050059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Theme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MedTech / Healthcare / AI for Good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2815" y="3779043"/>
            <a:ext cx="4050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2815" y="3883818"/>
            <a:ext cx="4050059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PS Category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59669"/>
                </a:solidFill>
                <a:latin typeface="Inter SemiBold"/>
              </a:rPr>
              <a:t>Software (Web &amp; Mobile 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2815" y="4093368"/>
            <a:ext cx="4050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2815" y="4198143"/>
            <a:ext cx="4050059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Team ID &amp; Name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TEAM_MAASATHI_2026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2815" y="4407693"/>
            <a:ext cx="4050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2815" y="4512468"/>
            <a:ext cx="4050059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Learning Platform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62FE"/>
                </a:solidFill>
                <a:latin typeface="Inter SemiBold"/>
              </a:rPr>
              <a:t>IBM SkillsBuild Activity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2509837"/>
            <a:ext cx="11430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2815" y="2638425"/>
            <a:ext cx="104775" cy="138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2925" y="4333875"/>
            <a:ext cx="19139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800" i="0" u="none">
                <a:solidFill>
                  <a:srgbClr val="0F62FE"/>
                </a:solidFill>
                <a:latin typeface="Poppins Extra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" y="4591050"/>
            <a:ext cx="191392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 SemiBold"/>
              </a:rPr>
              <a:t>Clinical Care Pillars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9754" y="4333875"/>
            <a:ext cx="19139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800" i="0" u="none">
                <a:solidFill>
                  <a:srgbClr val="0F62FE"/>
                </a:solidFill>
                <a:latin typeface="Poppins ExtraBold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9754" y="4591050"/>
            <a:ext cx="191392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 SemiBold"/>
              </a:rPr>
              <a:t>ABDM / FHIR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584" y="4333875"/>
            <a:ext cx="19139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800" i="0" u="none">
                <a:solidFill>
                  <a:srgbClr val="0F62FE"/>
                </a:solidFill>
                <a:latin typeface="Poppins ExtraBold"/>
              </a:rPr>
              <a:t>IBM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584" y="4591050"/>
            <a:ext cx="191392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 SemiBold"/>
              </a:rPr>
              <a:t>Watsonx 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338137"/>
            <a:ext cx="17049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5750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593" y="1343025"/>
            <a:ext cx="4736306" cy="506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343025"/>
            <a:ext cx="3146821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221" y="1343025"/>
            <a:ext cx="3146821" cy="247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3933825"/>
            <a:ext cx="3146821" cy="2476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221" y="3933825"/>
            <a:ext cx="3146821" cy="2476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6593" y="1343025"/>
            <a:ext cx="4736306" cy="1666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847725"/>
            <a:ext cx="11468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MaaSathi: Comprehensive Maternal Care Ecosystem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93345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100" y="6496050"/>
            <a:ext cx="5229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Key Innovation: Combines clinical decision support with empathetic community care on IBM Cloud.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58550" y="6496050"/>
            <a:ext cx="514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Slide 2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6387" y="360759"/>
            <a:ext cx="2819400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PROPOSED SOLUTION &amp; INNOVATION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" y="371475"/>
            <a:ext cx="109537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1819275"/>
            <a:ext cx="2822971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Fetal growth tracking, vital sign monitoring (BP, glucose), and automated risk classification for preeclampsia &amp; gestational diabetes.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2146" y="1819275"/>
            <a:ext cx="2822971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Evidence-based vaccination alerts (Tdap at 27-36 weeks, seasonal Influenza, COVID-19) for passive antibody transfer to save infants.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410075"/>
            <a:ext cx="2822971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FHIR-compliant repository storing ultrasound scans, lab panels, and doctor consultation notes for longitudinal clinical continuity.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2146" y="4410075"/>
            <a:ext cx="2822971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Moderated cohorts grouped by delivery month connecting expectant mothers with certified pediatricians &amp; lactation specialists.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6118" y="1352550"/>
            <a:ext cx="4717256" cy="1647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1476375"/>
            <a:ext cx="2857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2975" y="1519237"/>
            <a:ext cx="1562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1. Antenatal Tracking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2146" y="1476375"/>
            <a:ext cx="285750" cy="2857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04096" y="1519237"/>
            <a:ext cx="127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2. Vaccine Engine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025" y="4067175"/>
            <a:ext cx="2857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2975" y="4110037"/>
            <a:ext cx="159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3. Digital Health Vault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2146" y="4067175"/>
            <a:ext cx="285750" cy="2857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204096" y="4110037"/>
            <a:ext cx="1352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4. Peer Birth Clubs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1512" y="1557337"/>
            <a:ext cx="10477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3109" y="1557337"/>
            <a:ext cx="123825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462" y="4148137"/>
            <a:ext cx="14287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08821" y="4148137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338137"/>
            <a:ext cx="17049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5750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343025"/>
            <a:ext cx="6407943" cy="506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343025"/>
            <a:ext cx="6407943" cy="12251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6593" y="1343025"/>
            <a:ext cx="4736306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6593" y="3171825"/>
            <a:ext cx="4736306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847725"/>
            <a:ext cx="11468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System Architecture &amp; Technology Stack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93345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9100" y="6496050"/>
            <a:ext cx="4857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Built leveraging IBM SkillsBuild cloud development modules &amp; secure health data standards.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58550" y="6496050"/>
            <a:ext cx="514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Slide 3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6387" y="360759"/>
            <a:ext cx="3104257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TECHNICAL APPROACH &amp; ARCHITECTURE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371475"/>
            <a:ext cx="109537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6118" y="1352550"/>
            <a:ext cx="4717256" cy="1695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1466850"/>
            <a:ext cx="285750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" y="1509712"/>
            <a:ext cx="2085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Multi-Tier Technology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809750"/>
            <a:ext cx="5922168" cy="160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Frontend: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React Native &amp; PWA with multilingual voice input (Hindi, Marathi, English).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046684"/>
            <a:ext cx="5922168" cy="160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AI Engine: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IBM Watsonx.ai &amp; Granite 8B Instruct model for ICMR/WHO guidelines parsing.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2283618"/>
            <a:ext cx="5960268" cy="160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Backend &amp; Vault: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FastAPI microservices, IBM Cloud Object Storage, PostgreSQL FHIR schema.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9468" y="3295650"/>
            <a:ext cx="285750" cy="285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41418" y="3338512"/>
            <a:ext cx="1752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Care Delivery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0918" y="3638550"/>
            <a:ext cx="4279106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Step 1 (Intake):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Capture gestational age, LMP, parity, and baseline blood vitals.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918" y="4036218"/>
            <a:ext cx="4279106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Step 2 (AI Triage):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Watsonx model flags high-risk pregnancies and dispatches clinic alerts.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0918" y="4433887"/>
            <a:ext cx="4279106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Step 3 (Continuous Sync):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Automated vaccine push reminders &amp; ABDM health record sync.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412" y="1547812"/>
            <a:ext cx="1428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0431" y="3376612"/>
            <a:ext cx="1238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833562"/>
            <a:ext cx="14287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" y="2070496"/>
            <a:ext cx="14287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2307431"/>
            <a:ext cx="10477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9468" y="3662362"/>
            <a:ext cx="114300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9468" y="4060031"/>
            <a:ext cx="114300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9468" y="4457700"/>
            <a:ext cx="1143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38137"/>
            <a:ext cx="1714500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5750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600325"/>
            <a:ext cx="11353800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343025"/>
            <a:ext cx="368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00" y="1343025"/>
            <a:ext cx="3683049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850" y="1343025"/>
            <a:ext cx="36829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847725"/>
            <a:ext cx="11468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Viability Analysis &amp; Risk Management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93345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9100" y="6496050"/>
            <a:ext cx="4886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Compliant with Indian Digital Personal Data Protection (DPDP) Act &amp; Healthcare IT Standards.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9025" y="6496050"/>
            <a:ext cx="523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Slide 4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6387" y="360759"/>
            <a:ext cx="256520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FEASIBILITY, RISKS &amp; MITIGATION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371475"/>
            <a:ext cx="109537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81425" y="2724150"/>
            <a:ext cx="78295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oppins"/>
              </a:rPr>
              <a:t> Risk Matrix &amp; Strategic Countermeasures</a:t>
            </a:r>
            <a:r>
              <a:rPr b="1" sz="1050" i="0" u="none">
                <a:solidFill>
                  <a:srgbClr val="0F172A"/>
                </a:solidFill>
                <a:latin typeface="Poppins"/>
              </a:rPr>
              <a:t> </a:t>
            </a:r>
            <a:r>
              <a:rPr b="0" sz="1050" i="0" u="none">
                <a:solidFill>
                  <a:srgbClr val="059669"/>
                </a:solidFill>
                <a:latin typeface="Poppins SemiBold"/>
              </a:rPr>
              <a:t> 100% Risk Addressed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1025" y="3000375"/>
          <a:ext cx="1102994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67769"/>
                <a:gridCol w="1544091"/>
                <a:gridCol w="6618089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Potential Challenge /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Strategic Mitigation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2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334155"/>
                          </a:solidFill>
                          <a:latin typeface="Inter"/>
                        </a:rPr>
                        <a:t>Health Data Privacy &amp;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C2410C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Inter"/>
                        </a:rPr>
                        <a:t>End-to-end AES-256 encryption, HIPAA compliance, and ABDM (Ayushman Bharat) sandbox consent manager integration.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334155"/>
                          </a:solidFill>
                          <a:latin typeface="Inter"/>
                        </a:rPr>
                        <a:t>Digital Literacy in Rural Areas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C2410C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Inter"/>
                        </a:rPr>
                        <a:t>Vernacular audio-visual prompts, icon-driven UI navigation, and dedicated ASHA worker co-pilot interface mode.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334155"/>
                          </a:solidFill>
                          <a:latin typeface="Inter"/>
                        </a:rPr>
                        <a:t>AI Clinical Hallucination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B91C1C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Inter"/>
                        </a:rPr>
                        <a:t>RAG constrained strictly to validated WHO/ICMR clinical guidelines with physician disclaimers and confidence score thresholds.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1025" y="1819275"/>
            <a:ext cx="3359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Lightweight microservices and open HL7/FHIR protocols ensuring compatibility with existing hospital HMIS.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325" y="1819275"/>
            <a:ext cx="3359199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Freemium B2C tier for mothers, SaaS B2B clinic subscriptions, and public PHC deployment through CSR &amp; NHM.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1775" y="1819275"/>
            <a:ext cx="3359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Offline-first architecture with SMS fallback gateways enables deployment even in tier-2/3 rural PHCs.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1476375"/>
            <a:ext cx="2857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2975" y="1519237"/>
            <a:ext cx="14954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Technical Feasibility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325" y="1476375"/>
            <a:ext cx="2857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78275" y="1519237"/>
            <a:ext cx="1285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Financial Viability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1775" y="1476375"/>
            <a:ext cx="285750" cy="2857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13725" y="1519237"/>
            <a:ext cx="1685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Operational Scalability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2752725"/>
            <a:ext cx="13335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8900" y="2771775"/>
            <a:ext cx="114300" cy="10953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81025" y="3757612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48794" y="3757612"/>
            <a:ext cx="1544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92885" y="3757612"/>
            <a:ext cx="6618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1025" y="4062412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48794" y="4062412"/>
            <a:ext cx="1544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92885" y="4062412"/>
            <a:ext cx="6618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025" y="4510087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48794" y="4510087"/>
            <a:ext cx="1544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92885" y="4510087"/>
            <a:ext cx="6618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87" y="1557337"/>
            <a:ext cx="12382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87763" y="1557337"/>
            <a:ext cx="142875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8450" y="1557337"/>
            <a:ext cx="1524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44044" y="3390900"/>
            <a:ext cx="571500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44044" y="3838575"/>
            <a:ext cx="57150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44044" y="4143375"/>
            <a:ext cx="3905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338137"/>
            <a:ext cx="17049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5750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343025"/>
            <a:ext cx="6407943" cy="506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48100"/>
            <a:ext cx="6407943" cy="2562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6593" y="1343025"/>
            <a:ext cx="4736306" cy="1809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6593" y="3267075"/>
            <a:ext cx="4736306" cy="3143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1343025"/>
            <a:ext cx="3156346" cy="600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0696" y="1343025"/>
            <a:ext cx="3156346" cy="600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3550" y="5743575"/>
            <a:ext cx="4950618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3550" y="6086475"/>
            <a:ext cx="495061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3550" y="5743575"/>
            <a:ext cx="405943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3550" y="6086475"/>
            <a:ext cx="692943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847725"/>
            <a:ext cx="11468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Measurable Outcomes &amp; Health Transformation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933450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9100" y="6496050"/>
            <a:ext cx="4381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Fostering zero-preventable maternal mortality through digital equity and clinical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8550" y="6496050"/>
            <a:ext cx="5143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Slide 5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6387" y="360759"/>
            <a:ext cx="2489894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IMPACT AND SOCIETAL BENEFITS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" y="371475"/>
            <a:ext cx="109537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6118" y="1352550"/>
            <a:ext cx="4717256" cy="1790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9468" y="3733800"/>
            <a:ext cx="4450556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Directly accelerates </a:t>
            </a:r>
            <a:r>
              <a:rPr b="1" sz="937" i="0" u="none">
                <a:solidFill>
                  <a:srgbClr val="475569"/>
                </a:solidFill>
                <a:latin typeface="Inter"/>
              </a:rPr>
              <a:t>SDG 3 (Good Health &amp; Well-being)</a:t>
            </a:r>
            <a:r>
              <a:rPr b="0" sz="937" i="0" u="none">
                <a:solidFill>
                  <a:srgbClr val="475569"/>
                </a:solidFill>
                <a:latin typeface="Inter"/>
              </a:rPr>
              <a:t> targets 3.1 &amp; 3.2 by curtailing preventable maternal mortality and neonatal infections through automated prenatal reminders and AI risk triage.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1447800"/>
            <a:ext cx="2908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800" i="0" u="none">
                <a:solidFill>
                  <a:srgbClr val="0F62FE"/>
                </a:solidFill>
                <a:latin typeface="Poppins ExtraBold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1704975"/>
            <a:ext cx="290869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 SemiBold"/>
              </a:rPr>
              <a:t>Reduction in Missed Antenatal Visits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521" y="1447800"/>
            <a:ext cx="2908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800" i="0" u="none">
                <a:solidFill>
                  <a:srgbClr val="059669"/>
                </a:solidFill>
                <a:latin typeface="Poppins ExtraBold"/>
              </a:rP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521" y="1704975"/>
            <a:ext cx="290869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 SemiBold"/>
              </a:rPr>
              <a:t>Vaccine Adherence (Tdap / Flu)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9468" y="3390900"/>
            <a:ext cx="285750" cy="2857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41418" y="3433762"/>
            <a:ext cx="2590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UN Sustainable Development Goals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" y="5695950"/>
            <a:ext cx="10953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Inter SemiBold"/>
              </a:rPr>
              <a:t>Unvaccinated 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" y="6038850"/>
            <a:ext cx="10953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Inter SemiBold"/>
              </a:rPr>
              <a:t>MaaSathi Vaccinated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0431" y="3471862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10325"/>
            <a:ext cx="11353800" cy="21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338137"/>
            <a:ext cx="17049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5750"/>
            <a:ext cx="1042987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343025"/>
            <a:ext cx="5581650" cy="506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343025"/>
            <a:ext cx="5581650" cy="5067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5724525"/>
            <a:ext cx="5257800" cy="55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847725"/>
            <a:ext cx="114966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Academic Citations &amp; Project Timeline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933450"/>
            <a:ext cx="18097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9100" y="6496050"/>
            <a:ext cx="2638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Smart India Hackathon 2026 • End of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6825" y="6496050"/>
            <a:ext cx="2886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64748B"/>
                </a:solidFill>
                <a:latin typeface="Inter Medium"/>
              </a:rPr>
              <a:t>All clinical data aligned with WHO &amp; ICMR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6387" y="360759"/>
            <a:ext cx="275272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1125" i="0" u="none">
                <a:solidFill>
                  <a:srgbClr val="0F62FE"/>
                </a:solidFill>
                <a:latin typeface="Poppins"/>
              </a:rPr>
              <a:t>RESEARCH, REFERENCES &amp; ROADMAP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371475"/>
            <a:ext cx="10953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6086475"/>
            <a:ext cx="133350" cy="1095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77000" y="5829300"/>
            <a:ext cx="501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12" i="0" u="none">
                <a:solidFill>
                  <a:srgbClr val="0F62FE"/>
                </a:solidFill>
                <a:latin typeface="Poppins"/>
              </a:rPr>
              <a:t>Thank You! Team MaaSathi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6038850"/>
            <a:ext cx="5010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"/>
              </a:rPr>
              <a:t>IBM SkillsBuild Hackathon 2026 • Ready for Live Prototype Demo &amp; Q&amp;A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1476375"/>
            <a:ext cx="285750" cy="28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2975" y="1519237"/>
            <a:ext cx="2371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Research &amp; Clinical Foundations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3175" y="1476375"/>
            <a:ext cx="2857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15125" y="1519237"/>
            <a:ext cx="2247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1E293B"/>
                </a:solidFill>
                <a:latin typeface="Poppins"/>
              </a:rPr>
              <a:t>Development &amp; Pilot Roadmap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1557337"/>
            <a:ext cx="152400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900" y="1819275"/>
            <a:ext cx="5114925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WHO Antenatal Care Guidelines: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Standardized 8-contact routine model and gestational hypertension screening.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2235993"/>
            <a:ext cx="5114925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CDC &amp; ACOG Maternal Immunization Protocol: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Clinical trial validation for 3rd-trimester Tdap &amp; seasonal influenza protection.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2652712"/>
            <a:ext cx="5114925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IBM SkillsBuild AI Activity (PLAN-DA048276D952):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Cloud architecture, Granite LLM prompt tuning, and trusted AI pipelines.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3069431"/>
            <a:ext cx="5114925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HL7 FHIR &amp; ABDM Guidelines: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Indian National Health Authority interoperable electronic health record specifications.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1557337"/>
            <a:ext cx="152400" cy="123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24625" y="1819275"/>
            <a:ext cx="50863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Phase 1 (Hackathon MVP - Q1 2026):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Core prenatal tracker, Watsonx clinical AI triage, and vaccine alert scheduling 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2235993"/>
            <a:ext cx="50863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Phase 2 (Clinical Sandbox - Q2 2026):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ABDM / ABHA ID integration, encrypted FHIR vault, and ASHA co-pilot mode.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2652712"/>
            <a:ext cx="50863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Inter"/>
              </a:rPr>
              <a:t>Phase 3 (Hospital Pilot - Q3 2026):</a:t>
            </a:r>
            <a:r>
              <a:rPr b="0" sz="937" i="0" u="none">
                <a:solidFill>
                  <a:srgbClr val="334155"/>
                </a:solidFill>
                <a:latin typeface="Inter"/>
              </a:rPr>
              <a:t> Deployment across 5 district maternity clinics and community peer network rollout.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1843087"/>
            <a:ext cx="8572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2259806"/>
            <a:ext cx="85725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2676525"/>
            <a:ext cx="8572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3093243"/>
            <a:ext cx="85725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3175" y="1843087"/>
            <a:ext cx="114300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175" y="2259806"/>
            <a:ext cx="114300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175" y="2676525"/>
            <a:ext cx="1143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772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025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9100" y="781050"/>
            <a:ext cx="11353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9100" y="1552575"/>
            <a:ext cx="11353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1543050"/>
            <a:ext cx="11353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100" y="1543050"/>
            <a:ext cx="11353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100" y="2314575"/>
            <a:ext cx="11353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2314575"/>
            <a:ext cx="11353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239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14475" y="966787"/>
            <a:ext cx="10258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https://centraloregonradiology.com/wp-content/uploads/2019/06/bigstock-Pretty-Pregnant-Woman-Lying-In-291358972.jpg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475" y="1166812"/>
            <a:ext cx="10258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centraloregonradiology.com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6954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14475" y="1738312"/>
            <a:ext cx="10258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https://assets.medpagetoday.net/media/images/114xxx/114169.jpg?width=0.8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475" y="1938337"/>
            <a:ext cx="10258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www.medpagetoday.com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5003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14475" y="2466975"/>
            <a:ext cx="102584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https://img.magnific.com/premium-photo/happy-mother-holding-newborn-baby-hospital-smiling-woman-with-infant-joyful-maternity-moment-motherhood-bond-concept_447653-29442.jpg?semt=ais_hybrid&amp;w=740&amp;q=80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4475" y="2819400"/>
            <a:ext cx="10258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