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204700" cy="6858000"/>
  <p:notesSz cx="122047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5980"/>
            <a:ext cx="1037399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0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0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19" y="297179"/>
            <a:ext cx="2438400" cy="266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" y="899160"/>
            <a:ext cx="198120" cy="2362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59" y="274320"/>
            <a:ext cx="1310640" cy="32765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" y="1303019"/>
            <a:ext cx="11369040" cy="51282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0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0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6416040"/>
            <a:ext cx="11353799" cy="762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4980" y="327659"/>
            <a:ext cx="2415540" cy="24384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7759" y="4213859"/>
            <a:ext cx="2164080" cy="62483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59" y="289559"/>
            <a:ext cx="1874520" cy="3200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1480" y="2430779"/>
            <a:ext cx="4442460" cy="240792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22819" y="2407920"/>
            <a:ext cx="4465320" cy="2438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459" y="875264"/>
            <a:ext cx="6598145" cy="315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0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77340"/>
            <a:ext cx="1098423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7384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ipna-hack-x.vercel.app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3304" y="276369"/>
            <a:ext cx="2362200" cy="36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5" b="1">
                <a:solidFill>
                  <a:srgbClr val="077BFE"/>
                </a:solidFill>
                <a:latin typeface="Times New Roman"/>
                <a:cs typeface="Times New Roman"/>
              </a:rPr>
              <a:t>SMART</a:t>
            </a:r>
            <a:r>
              <a:rPr dirty="0" sz="1100" spc="-95" b="1">
                <a:solidFill>
                  <a:srgbClr val="077BFE"/>
                </a:solidFill>
                <a:latin typeface="Times New Roman"/>
                <a:cs typeface="Times New Roman"/>
              </a:rPr>
              <a:t> MATERNAL</a:t>
            </a:r>
            <a:r>
              <a:rPr dirty="0" sz="1100" spc="-13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70" b="1">
                <a:solidFill>
                  <a:srgbClr val="077BFE"/>
                </a:solidFill>
                <a:latin typeface="Times New Roman"/>
                <a:cs typeface="Times New Roman"/>
              </a:rPr>
              <a:t>CARE </a:t>
            </a:r>
            <a:r>
              <a:rPr dirty="0" sz="1100" spc="-60" b="1">
                <a:solidFill>
                  <a:srgbClr val="077BFE"/>
                </a:solidFill>
                <a:latin typeface="Times New Roman"/>
                <a:cs typeface="Times New Roman"/>
              </a:rPr>
              <a:t>INITIATIVE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100" spc="10" b="1">
                <a:solidFill>
                  <a:srgbClr val="F06D06"/>
                </a:solidFill>
                <a:latin typeface="Times New Roman"/>
                <a:cs typeface="Times New Roman"/>
              </a:rPr>
              <a:t>IBM</a:t>
            </a:r>
            <a:r>
              <a:rPr dirty="0" sz="1100" spc="345" b="1">
                <a:solidFill>
                  <a:srgbClr val="F06D06"/>
                </a:solidFill>
                <a:latin typeface="Times New Roman"/>
                <a:cs typeface="Times New Roman"/>
              </a:rPr>
              <a:t> </a:t>
            </a:r>
            <a:r>
              <a:rPr dirty="0" sz="1100" spc="10" b="1">
                <a:solidFill>
                  <a:srgbClr val="F06D06"/>
                </a:solidFill>
                <a:latin typeface="Times New Roman"/>
                <a:cs typeface="Times New Roman"/>
              </a:rPr>
              <a:t>SkillsBuild</a:t>
            </a:r>
            <a:r>
              <a:rPr dirty="0" sz="1100" spc="320" b="1">
                <a:solidFill>
                  <a:srgbClr val="F06D06"/>
                </a:solidFill>
                <a:latin typeface="Times New Roman"/>
                <a:cs typeface="Times New Roman"/>
              </a:rPr>
              <a:t> </a:t>
            </a:r>
            <a:r>
              <a:rPr dirty="0" sz="1100" spc="10" b="1">
                <a:solidFill>
                  <a:srgbClr val="F06D06"/>
                </a:solidFill>
                <a:latin typeface="Times New Roman"/>
                <a:cs typeface="Times New Roman"/>
              </a:rPr>
              <a:t>Innovation</a:t>
            </a:r>
            <a:r>
              <a:rPr dirty="0" sz="1100" spc="335" b="1">
                <a:solidFill>
                  <a:srgbClr val="F06D06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>
                <a:solidFill>
                  <a:srgbClr val="F06D06"/>
                </a:solidFill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980" y="2751599"/>
            <a:ext cx="6473825" cy="132651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290"/>
              </a:spcBef>
            </a:pPr>
            <a:r>
              <a:rPr dirty="0" sz="2800" spc="225">
                <a:solidFill>
                  <a:srgbClr val="07223E"/>
                </a:solidFill>
                <a:latin typeface="Times New Roman"/>
                <a:cs typeface="Times New Roman"/>
              </a:rPr>
              <a:t>MaaSathi:</a:t>
            </a:r>
            <a:r>
              <a:rPr dirty="0" sz="2800" spc="400">
                <a:solidFill>
                  <a:srgbClr val="07223E"/>
                </a:solidFill>
                <a:latin typeface="Times New Roman"/>
                <a:cs typeface="Times New Roman"/>
              </a:rPr>
              <a:t> </a:t>
            </a:r>
            <a:r>
              <a:rPr dirty="0" sz="2800" spc="215">
                <a:solidFill>
                  <a:srgbClr val="07223E"/>
                </a:solidFill>
                <a:latin typeface="Times New Roman"/>
                <a:cs typeface="Times New Roman"/>
              </a:rPr>
              <a:t>Maternal</a:t>
            </a:r>
            <a:r>
              <a:rPr dirty="0" sz="2800" spc="400">
                <a:solidFill>
                  <a:srgbClr val="07223E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7223E"/>
                </a:solidFill>
                <a:latin typeface="Times New Roman"/>
                <a:cs typeface="Times New Roman"/>
              </a:rPr>
              <a:t>&amp;</a:t>
            </a:r>
            <a:r>
              <a:rPr dirty="0" sz="2800" spc="610">
                <a:solidFill>
                  <a:srgbClr val="07223E"/>
                </a:solidFill>
                <a:latin typeface="Times New Roman"/>
                <a:cs typeface="Times New Roman"/>
              </a:rPr>
              <a:t> </a:t>
            </a:r>
            <a:r>
              <a:rPr dirty="0" sz="2800" spc="235">
                <a:solidFill>
                  <a:srgbClr val="07223E"/>
                </a:solidFill>
                <a:latin typeface="Times New Roman"/>
                <a:cs typeface="Times New Roman"/>
              </a:rPr>
              <a:t>Newborn</a:t>
            </a:r>
            <a:r>
              <a:rPr dirty="0" sz="2800" spc="450">
                <a:solidFill>
                  <a:srgbClr val="07223E"/>
                </a:solidFill>
                <a:latin typeface="Times New Roman"/>
                <a:cs typeface="Times New Roman"/>
              </a:rPr>
              <a:t> </a:t>
            </a:r>
            <a:r>
              <a:rPr dirty="0" sz="2800" spc="180">
                <a:solidFill>
                  <a:srgbClr val="07223E"/>
                </a:solidFill>
                <a:latin typeface="Times New Roman"/>
                <a:cs typeface="Times New Roman"/>
              </a:rPr>
              <a:t>Care </a:t>
            </a:r>
            <a:r>
              <a:rPr dirty="0" sz="2800" spc="265">
                <a:solidFill>
                  <a:srgbClr val="07223E"/>
                </a:solidFill>
                <a:latin typeface="Times New Roman"/>
                <a:cs typeface="Times New Roman"/>
              </a:rPr>
              <a:t>Companion </a:t>
            </a:r>
            <a:endParaRPr sz="2800">
              <a:latin typeface="Times New Roman"/>
              <a:cs typeface="Times New Roman"/>
            </a:endParaRPr>
          </a:p>
          <a:p>
            <a:pPr marL="12700" marR="95885">
              <a:lnSpc>
                <a:spcPct val="121700"/>
              </a:lnSpc>
              <a:spcBef>
                <a:spcPts val="610"/>
              </a:spcBef>
            </a:pPr>
            <a:r>
              <a:rPr dirty="0" sz="1000" spc="65">
                <a:solidFill>
                  <a:srgbClr val="58677B"/>
                </a:solidFill>
                <a:latin typeface="Times New Roman"/>
                <a:cs typeface="Times New Roman"/>
              </a:rPr>
              <a:t>An</a:t>
            </a:r>
            <a:r>
              <a:rPr dirty="0" sz="10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105">
                <a:solidFill>
                  <a:srgbClr val="58677B"/>
                </a:solidFill>
                <a:latin typeface="Times New Roman"/>
                <a:cs typeface="Times New Roman"/>
              </a:rPr>
              <a:t>AI-</a:t>
            </a:r>
            <a:r>
              <a:rPr dirty="0" sz="1000" spc="85">
                <a:solidFill>
                  <a:srgbClr val="58677B"/>
                </a:solidFill>
                <a:latin typeface="Times New Roman"/>
                <a:cs typeface="Times New Roman"/>
              </a:rPr>
              <a:t>driven</a:t>
            </a:r>
            <a:r>
              <a:rPr dirty="0" sz="10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58677B"/>
                </a:solidFill>
                <a:latin typeface="Times New Roman"/>
                <a:cs typeface="Times New Roman"/>
              </a:rPr>
              <a:t>clinical</a:t>
            </a:r>
            <a:r>
              <a:rPr dirty="0" sz="10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58677B"/>
                </a:solidFill>
                <a:latin typeface="Times New Roman"/>
                <a:cs typeface="Times New Roman"/>
              </a:rPr>
              <a:t>intelligence</a:t>
            </a:r>
            <a:r>
              <a:rPr dirty="0" sz="10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1000" spc="22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58677B"/>
                </a:solidFill>
                <a:latin typeface="Times New Roman"/>
                <a:cs typeface="Times New Roman"/>
              </a:rPr>
              <a:t>digital</a:t>
            </a:r>
            <a:r>
              <a:rPr dirty="0" sz="10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58677B"/>
                </a:solidFill>
                <a:latin typeface="Times New Roman"/>
                <a:cs typeface="Times New Roman"/>
              </a:rPr>
              <a:t>healthcare</a:t>
            </a:r>
            <a:r>
              <a:rPr dirty="0" sz="10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58677B"/>
                </a:solidFill>
                <a:latin typeface="Times New Roman"/>
                <a:cs typeface="Times New Roman"/>
              </a:rPr>
              <a:t>system</a:t>
            </a:r>
            <a:r>
              <a:rPr dirty="0" sz="10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58677B"/>
                </a:solidFill>
                <a:latin typeface="Times New Roman"/>
                <a:cs typeface="Times New Roman"/>
              </a:rPr>
              <a:t>delivering</a:t>
            </a:r>
            <a:r>
              <a:rPr dirty="0" sz="10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58677B"/>
                </a:solidFill>
                <a:latin typeface="Times New Roman"/>
                <a:cs typeface="Times New Roman"/>
              </a:rPr>
              <a:t>evidence-</a:t>
            </a:r>
            <a:r>
              <a:rPr dirty="0" sz="1000" spc="75">
                <a:solidFill>
                  <a:srgbClr val="58677B"/>
                </a:solidFill>
                <a:latin typeface="Times New Roman"/>
                <a:cs typeface="Times New Roman"/>
              </a:rPr>
              <a:t>based</a:t>
            </a:r>
            <a:r>
              <a:rPr dirty="0" sz="10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58677B"/>
                </a:solidFill>
                <a:latin typeface="Times New Roman"/>
                <a:cs typeface="Times New Roman"/>
              </a:rPr>
              <a:t>antenatal </a:t>
            </a:r>
            <a:r>
              <a:rPr dirty="0" sz="1000" spc="95">
                <a:solidFill>
                  <a:srgbClr val="58677B"/>
                </a:solidFill>
                <a:latin typeface="Times New Roman"/>
                <a:cs typeface="Times New Roman"/>
              </a:rPr>
              <a:t>guidance,</a:t>
            </a:r>
            <a:r>
              <a:rPr dirty="0" sz="10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58677B"/>
                </a:solidFill>
                <a:latin typeface="Times New Roman"/>
                <a:cs typeface="Times New Roman"/>
              </a:rPr>
              <a:t>automated</a:t>
            </a:r>
            <a:r>
              <a:rPr dirty="0" sz="1000" spc="204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58677B"/>
                </a:solidFill>
                <a:latin typeface="Times New Roman"/>
                <a:cs typeface="Times New Roman"/>
              </a:rPr>
              <a:t>vaccine</a:t>
            </a:r>
            <a:r>
              <a:rPr dirty="0" sz="10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58677B"/>
                </a:solidFill>
                <a:latin typeface="Times New Roman"/>
                <a:cs typeface="Times New Roman"/>
              </a:rPr>
              <a:t>schedules,</a:t>
            </a:r>
            <a:r>
              <a:rPr dirty="0" sz="10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120">
                <a:solidFill>
                  <a:srgbClr val="58677B"/>
                </a:solidFill>
                <a:latin typeface="Times New Roman"/>
                <a:cs typeface="Times New Roman"/>
              </a:rPr>
              <a:t>FHIR</a:t>
            </a:r>
            <a:r>
              <a:rPr dirty="0" sz="1000" spc="2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58677B"/>
                </a:solidFill>
                <a:latin typeface="Times New Roman"/>
                <a:cs typeface="Times New Roman"/>
              </a:rPr>
              <a:t>health</a:t>
            </a:r>
            <a:r>
              <a:rPr dirty="0" sz="10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58677B"/>
                </a:solidFill>
                <a:latin typeface="Times New Roman"/>
                <a:cs typeface="Times New Roman"/>
              </a:rPr>
              <a:t>vaults,</a:t>
            </a:r>
            <a:r>
              <a:rPr dirty="0" sz="10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1000" spc="21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58677B"/>
                </a:solidFill>
                <a:latin typeface="Times New Roman"/>
                <a:cs typeface="Times New Roman"/>
              </a:rPr>
              <a:t>peer</a:t>
            </a:r>
            <a:r>
              <a:rPr dirty="0" sz="1000" spc="204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58677B"/>
                </a:solidFill>
                <a:latin typeface="Times New Roman"/>
                <a:cs typeface="Times New Roman"/>
              </a:rPr>
              <a:t>birth</a:t>
            </a:r>
            <a:r>
              <a:rPr dirty="0" sz="10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58677B"/>
                </a:solidFill>
                <a:latin typeface="Times New Roman"/>
                <a:cs typeface="Times New Roman"/>
              </a:rPr>
              <a:t>clubs. 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9863" y="2515591"/>
            <a:ext cx="4152900" cy="83121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750"/>
              </a:spcBef>
            </a:pPr>
            <a:r>
              <a:rPr dirty="0" sz="1100" spc="65" b="1">
                <a:solidFill>
                  <a:srgbClr val="077BFE"/>
                </a:solidFill>
                <a:latin typeface="Times New Roman"/>
                <a:cs typeface="Times New Roman"/>
              </a:rPr>
              <a:t>Project</a:t>
            </a:r>
            <a:r>
              <a:rPr dirty="0" sz="1100" spc="3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75" b="1">
                <a:solidFill>
                  <a:srgbClr val="077BFE"/>
                </a:solidFill>
                <a:latin typeface="Times New Roman"/>
                <a:cs typeface="Times New Roman"/>
              </a:rPr>
              <a:t>Metadata 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2220"/>
              </a:lnSpc>
              <a:spcBef>
                <a:spcPts val="35"/>
              </a:spcBef>
              <a:tabLst>
                <a:tab pos="1608455" algn="l"/>
              </a:tabLst>
            </a:pPr>
            <a:r>
              <a:rPr dirty="0" sz="1200" spc="75" b="1">
                <a:solidFill>
                  <a:srgbClr val="76879C"/>
                </a:solidFill>
                <a:latin typeface="Times New Roman"/>
                <a:cs typeface="Times New Roman"/>
              </a:rPr>
              <a:t>Problem</a:t>
            </a:r>
            <a:r>
              <a:rPr dirty="0" sz="1200" spc="165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spc="65" b="1">
                <a:solidFill>
                  <a:srgbClr val="76879C"/>
                </a:solidFill>
                <a:latin typeface="Times New Roman"/>
                <a:cs typeface="Times New Roman"/>
              </a:rPr>
              <a:t>Statement</a:t>
            </a:r>
            <a:r>
              <a:rPr dirty="0" sz="1200" b="1">
                <a:solidFill>
                  <a:srgbClr val="76879C"/>
                </a:solidFill>
                <a:latin typeface="Times New Roman"/>
                <a:cs typeface="Times New Roman"/>
              </a:rPr>
              <a:t>	</a:t>
            </a:r>
            <a:r>
              <a:rPr dirty="0" sz="1200">
                <a:latin typeface="Times New Roman"/>
                <a:cs typeface="Times New Roman"/>
              </a:rPr>
              <a:t>MaaSathi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Maternal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&amp;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newborn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Care </a:t>
            </a:r>
            <a:r>
              <a:rPr dirty="0" sz="1200" spc="-10">
                <a:latin typeface="Times New Roman"/>
                <a:cs typeface="Times New Roman"/>
              </a:rPr>
              <a:t>Companion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9863" y="3520841"/>
            <a:ext cx="3658870" cy="52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 b="1">
                <a:solidFill>
                  <a:srgbClr val="76879C"/>
                </a:solidFill>
                <a:latin typeface="Times New Roman"/>
                <a:cs typeface="Times New Roman"/>
              </a:rPr>
              <a:t>Domain</a:t>
            </a:r>
            <a:r>
              <a:rPr dirty="0" sz="1200" spc="22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101E36"/>
                </a:solidFill>
                <a:latin typeface="Times New Roman"/>
                <a:cs typeface="Times New Roman"/>
              </a:rPr>
              <a:t>Smart</a:t>
            </a:r>
            <a:r>
              <a:rPr dirty="0" sz="1200" spc="204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95">
                <a:solidFill>
                  <a:srgbClr val="101E36"/>
                </a:solidFill>
                <a:latin typeface="Times New Roman"/>
                <a:cs typeface="Times New Roman"/>
              </a:rPr>
              <a:t>Maternal</a:t>
            </a:r>
            <a:r>
              <a:rPr dirty="0" sz="1200" spc="200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01E36"/>
                </a:solidFill>
                <a:latin typeface="Times New Roman"/>
                <a:cs typeface="Times New Roman"/>
              </a:rPr>
              <a:t>&amp;</a:t>
            </a:r>
            <a:r>
              <a:rPr dirty="0" sz="1200" spc="315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85">
                <a:solidFill>
                  <a:srgbClr val="101E36"/>
                </a:solidFill>
                <a:latin typeface="Times New Roman"/>
                <a:cs typeface="Times New Roman"/>
              </a:rPr>
              <a:t>Child</a:t>
            </a:r>
            <a:r>
              <a:rPr dirty="0" sz="1200" spc="200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101E36"/>
                </a:solidFill>
                <a:latin typeface="Times New Roman"/>
                <a:cs typeface="Times New Roman"/>
              </a:rPr>
              <a:t>Health</a:t>
            </a:r>
            <a:r>
              <a:rPr dirty="0" sz="1200" spc="195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101E36"/>
                </a:solidFill>
                <a:latin typeface="Times New Roman"/>
                <a:cs typeface="Times New Roman"/>
              </a:rPr>
              <a:t>System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200" spc="100" b="1">
                <a:solidFill>
                  <a:srgbClr val="76879C"/>
                </a:solidFill>
                <a:latin typeface="Times New Roman"/>
                <a:cs typeface="Times New Roman"/>
              </a:rPr>
              <a:t>Theme</a:t>
            </a:r>
            <a:r>
              <a:rPr dirty="0" sz="1200" spc="140" b="1">
                <a:solidFill>
                  <a:srgbClr val="76879C"/>
                </a:solidFill>
                <a:latin typeface="Times New Roman"/>
                <a:cs typeface="Times New Roman"/>
              </a:rPr>
              <a:t>  </a:t>
            </a:r>
            <a:r>
              <a:rPr dirty="0" sz="1200" spc="80">
                <a:solidFill>
                  <a:srgbClr val="101E36"/>
                </a:solidFill>
                <a:latin typeface="Times New Roman"/>
                <a:cs typeface="Times New Roman"/>
              </a:rPr>
              <a:t>Healthcare</a:t>
            </a:r>
            <a:r>
              <a:rPr dirty="0" sz="1200" spc="175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01E36"/>
                </a:solidFill>
                <a:latin typeface="Times New Roman"/>
                <a:cs typeface="Times New Roman"/>
              </a:rPr>
              <a:t>/</a:t>
            </a:r>
            <a:r>
              <a:rPr dirty="0" sz="1200" spc="114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101E36"/>
                </a:solidFill>
                <a:latin typeface="Times New Roman"/>
                <a:cs typeface="Times New Roman"/>
              </a:rPr>
              <a:t>AI</a:t>
            </a:r>
            <a:r>
              <a:rPr dirty="0" sz="1200" spc="200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101E36"/>
                </a:solidFill>
                <a:latin typeface="Times New Roman"/>
                <a:cs typeface="Times New Roman"/>
              </a:rPr>
              <a:t>for</a:t>
            </a:r>
            <a:r>
              <a:rPr dirty="0" sz="1200" spc="165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101E36"/>
                </a:solidFill>
                <a:latin typeface="Times New Roman"/>
                <a:cs typeface="Times New Roman"/>
              </a:rPr>
              <a:t>Good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018" y="4216684"/>
            <a:ext cx="1021080" cy="523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R="18415">
              <a:lnSpc>
                <a:spcPct val="100000"/>
              </a:lnSpc>
              <a:spcBef>
                <a:spcPts val="650"/>
              </a:spcBef>
            </a:pPr>
            <a:r>
              <a:rPr dirty="0" sz="1800" spc="-50">
                <a:solidFill>
                  <a:srgbClr val="077BFE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Clinical</a:t>
            </a:r>
            <a:r>
              <a:rPr dirty="0" sz="800" spc="114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Care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Pillars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3065" y="4216684"/>
            <a:ext cx="1041400" cy="523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650"/>
              </a:spcBef>
            </a:pPr>
            <a:r>
              <a:rPr dirty="0" sz="1800" spc="114">
                <a:solidFill>
                  <a:srgbClr val="077BFE"/>
                </a:solidFill>
                <a:latin typeface="Times New Roman"/>
                <a:cs typeface="Times New Roman"/>
              </a:rPr>
              <a:t>10</a:t>
            </a:r>
            <a:r>
              <a:rPr dirty="0" sz="1800" spc="-204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800" spc="75">
                <a:solidFill>
                  <a:srgbClr val="077BFE"/>
                </a:solidFill>
                <a:latin typeface="Times New Roman"/>
                <a:cs typeface="Times New Roman"/>
              </a:rPr>
              <a:t>0% 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ABDM</a:t>
            </a:r>
            <a:r>
              <a:rPr dirty="0" sz="800" spc="15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/</a:t>
            </a:r>
            <a:r>
              <a:rPr dirty="0" sz="800" spc="11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FHIR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Ready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4901" y="4216684"/>
            <a:ext cx="943610" cy="523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650"/>
              </a:spcBef>
            </a:pPr>
            <a:r>
              <a:rPr dirty="0" sz="1800" spc="-25">
                <a:solidFill>
                  <a:srgbClr val="077BFE"/>
                </a:solidFill>
                <a:latin typeface="Times New Roman"/>
                <a:cs typeface="Times New Roman"/>
              </a:rPr>
              <a:t>IBM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Wat</a:t>
            </a:r>
            <a:r>
              <a:rPr dirty="0" sz="800" spc="-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76879C"/>
                </a:solidFill>
                <a:latin typeface="Times New Roman"/>
                <a:cs typeface="Times New Roman"/>
              </a:rPr>
              <a:t>s</a:t>
            </a:r>
            <a:r>
              <a:rPr dirty="0" sz="800" spc="-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o</a:t>
            </a:r>
            <a:r>
              <a:rPr dirty="0" sz="800" spc="-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n</a:t>
            </a:r>
            <a:r>
              <a:rPr dirty="0" sz="800" spc="-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x</a:t>
            </a:r>
            <a:r>
              <a:rPr dirty="0" sz="800" spc="254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Powered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9863" y="4086446"/>
            <a:ext cx="2383155" cy="567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100"/>
              </a:spcBef>
            </a:pPr>
            <a:r>
              <a:rPr dirty="0" sz="1200" b="1">
                <a:solidFill>
                  <a:srgbClr val="76879C"/>
                </a:solidFill>
                <a:latin typeface="Times New Roman"/>
                <a:cs typeface="Times New Roman"/>
              </a:rPr>
              <a:t>Team</a:t>
            </a:r>
            <a:r>
              <a:rPr dirty="0" sz="1200" spc="14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76879C"/>
                </a:solidFill>
                <a:latin typeface="Times New Roman"/>
                <a:cs typeface="Times New Roman"/>
              </a:rPr>
              <a:t>ID</a:t>
            </a:r>
            <a:r>
              <a:rPr dirty="0" sz="1200" spc="16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1200" spc="19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spc="50" b="1">
                <a:solidFill>
                  <a:srgbClr val="76879C"/>
                </a:solidFill>
                <a:latin typeface="Times New Roman"/>
                <a:cs typeface="Times New Roman"/>
              </a:rPr>
              <a:t>Name</a:t>
            </a:r>
            <a:r>
              <a:rPr dirty="0" sz="1200" spc="15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101E36"/>
                </a:solidFill>
                <a:latin typeface="Times New Roman"/>
                <a:cs typeface="Times New Roman"/>
              </a:rPr>
              <a:t>SipnaHackX </a:t>
            </a:r>
            <a:r>
              <a:rPr dirty="0" sz="1200" spc="60" b="1">
                <a:solidFill>
                  <a:srgbClr val="76879C"/>
                </a:solidFill>
                <a:latin typeface="Times New Roman"/>
                <a:cs typeface="Times New Roman"/>
              </a:rPr>
              <a:t>Track</a:t>
            </a:r>
            <a:r>
              <a:rPr dirty="0" sz="1200" spc="180" b="1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077BFE"/>
                </a:solidFill>
                <a:latin typeface="Times New Roman"/>
                <a:cs typeface="Times New Roman"/>
              </a:rPr>
              <a:t>IBM</a:t>
            </a:r>
            <a:r>
              <a:rPr dirty="0" sz="1200" spc="195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077BFE"/>
                </a:solidFill>
                <a:latin typeface="Times New Roman"/>
                <a:cs typeface="Times New Roman"/>
              </a:rPr>
              <a:t>SkillsBuild</a:t>
            </a:r>
            <a:r>
              <a:rPr dirty="0" sz="1200" spc="140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077BFE"/>
                </a:solidFill>
                <a:latin typeface="Times New Roman"/>
                <a:cs typeface="Times New Roman"/>
              </a:rPr>
              <a:t>Certified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980" y="6481051"/>
            <a:ext cx="224726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MaaSathi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Healthcare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Innovation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·</a:t>
            </a:r>
            <a:r>
              <a:rPr dirty="0" sz="800" spc="17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Maternal Intelligence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9425" y="6481051"/>
            <a:ext cx="140271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9209">
              <a:lnSpc>
                <a:spcPct val="107300"/>
              </a:lnSpc>
              <a:spcBef>
                <a:spcPts val="100"/>
              </a:spcBef>
            </a:pP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MaaSathi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·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IBM</a:t>
            </a:r>
            <a:r>
              <a:rPr dirty="0" sz="800" spc="17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0">
                <a:solidFill>
                  <a:srgbClr val="76879C"/>
                </a:solidFill>
                <a:latin typeface="Times New Roman"/>
                <a:cs typeface="Times New Roman"/>
              </a:rPr>
              <a:t>SkillsBuild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Certified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1211" y="5360154"/>
            <a:ext cx="40373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Our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website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:</a:t>
            </a:r>
            <a:r>
              <a:rPr dirty="0" sz="1600" spc="375" b="1"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imes New Roman"/>
                <a:cs typeface="Times New Roman"/>
                <a:hlinkClick r:id="rId2"/>
              </a:rPr>
              <a:t>https://sipna-hack-x.vercel.app/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5459" y="297179"/>
            <a:ext cx="2392679" cy="266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" y="899160"/>
            <a:ext cx="236220" cy="236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" y="274320"/>
            <a:ext cx="2026920" cy="32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" y="1303019"/>
            <a:ext cx="11376660" cy="51206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30335" y="344023"/>
            <a:ext cx="29819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0" b="1">
                <a:solidFill>
                  <a:srgbClr val="077BFE"/>
                </a:solidFill>
                <a:latin typeface="Times New Roman"/>
                <a:cs typeface="Times New Roman"/>
              </a:rPr>
              <a:t>COMPREHENSIVE</a:t>
            </a:r>
            <a:r>
              <a:rPr dirty="0" sz="1100" spc="-1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85" b="1">
                <a:solidFill>
                  <a:srgbClr val="077BFE"/>
                </a:solidFill>
                <a:latin typeface="Times New Roman"/>
                <a:cs typeface="Times New Roman"/>
              </a:rPr>
              <a:t>MATERNAL</a:t>
            </a:r>
            <a:r>
              <a:rPr dirty="0" sz="1100" spc="-9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CLINICAL</a:t>
            </a:r>
            <a:r>
              <a:rPr dirty="0" sz="1100" spc="-9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20" b="1">
                <a:solidFill>
                  <a:srgbClr val="077BFE"/>
                </a:solidFill>
                <a:latin typeface="Times New Roman"/>
                <a:cs typeface="Times New Roman"/>
              </a:rPr>
              <a:t>CARE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MaaSathi:</a:t>
            </a:r>
            <a:r>
              <a:rPr dirty="0" spc="295"/>
              <a:t> </a:t>
            </a:r>
            <a:r>
              <a:rPr dirty="0" spc="160"/>
              <a:t>Comprehensive</a:t>
            </a:r>
            <a:r>
              <a:rPr dirty="0" spc="295"/>
              <a:t> </a:t>
            </a:r>
            <a:r>
              <a:rPr dirty="0" spc="160"/>
              <a:t>Maternal</a:t>
            </a:r>
            <a:r>
              <a:rPr dirty="0" spc="300"/>
              <a:t> </a:t>
            </a:r>
            <a:r>
              <a:rPr dirty="0" spc="140"/>
              <a:t>Care</a:t>
            </a:r>
            <a:r>
              <a:rPr dirty="0" spc="320"/>
              <a:t> </a:t>
            </a:r>
            <a:r>
              <a:rPr dirty="0" spc="150"/>
              <a:t>Ecosystem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0135" y="1484782"/>
            <a:ext cx="14808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1.</a:t>
            </a:r>
            <a:r>
              <a:rPr dirty="0" sz="1100" spc="55" b="1">
                <a:solidFill>
                  <a:srgbClr val="26364B"/>
                </a:solidFill>
                <a:latin typeface="Times New Roman"/>
                <a:cs typeface="Times New Roman"/>
              </a:rPr>
              <a:t> Antenatal</a:t>
            </a:r>
            <a:r>
              <a:rPr dirty="0" sz="1100" spc="13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>
                <a:solidFill>
                  <a:srgbClr val="26364B"/>
                </a:solidFill>
                <a:latin typeface="Times New Roman"/>
                <a:cs typeface="Times New Roman"/>
              </a:rPr>
              <a:t>Tracking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1380" y="1484782"/>
            <a:ext cx="12344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2.</a:t>
            </a:r>
            <a:r>
              <a:rPr dirty="0" sz="1100" spc="254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Vaccine</a:t>
            </a:r>
            <a:r>
              <a:rPr dirty="0" sz="1100" spc="30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75" b="1">
                <a:solidFill>
                  <a:srgbClr val="26364B"/>
                </a:solidFill>
                <a:latin typeface="Times New Roman"/>
                <a:cs typeface="Times New Roman"/>
              </a:rPr>
              <a:t>Engine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982" y="1771573"/>
            <a:ext cx="2691130" cy="5245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Fetal</a:t>
            </a:r>
            <a:r>
              <a:rPr dirty="0" sz="900" spc="13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growth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tracking,</a:t>
            </a:r>
            <a:r>
              <a:rPr dirty="0" sz="900" spc="13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vital</a:t>
            </a:r>
            <a:r>
              <a:rPr dirty="0" sz="900" spc="13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sign</a:t>
            </a:r>
            <a:r>
              <a:rPr dirty="0" sz="900" spc="1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monitoring 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21300"/>
              </a:lnSpc>
            </a:pP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(BP,</a:t>
            </a:r>
            <a:r>
              <a:rPr dirty="0" sz="9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glucose),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automated</a:t>
            </a:r>
            <a:r>
              <a:rPr dirty="0" sz="9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risk</a:t>
            </a:r>
            <a:r>
              <a:rPr dirty="0" sz="900" spc="12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classification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for</a:t>
            </a:r>
            <a:r>
              <a:rPr dirty="0" sz="9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preeclampsia</a:t>
            </a:r>
            <a:r>
              <a:rPr dirty="0" sz="9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&amp;</a:t>
            </a:r>
            <a:r>
              <a:rPr dirty="0" sz="900" spc="3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gestational</a:t>
            </a:r>
            <a:r>
              <a:rPr dirty="0" sz="900" spc="114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diabetes.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9208" y="1754555"/>
            <a:ext cx="268287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00"/>
              </a:spcBef>
            </a:pPr>
            <a:r>
              <a:rPr dirty="0" sz="900" spc="85">
                <a:solidFill>
                  <a:srgbClr val="58677B"/>
                </a:solidFill>
                <a:latin typeface="Times New Roman"/>
                <a:cs typeface="Times New Roman"/>
              </a:rPr>
              <a:t>Evidence-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based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vaccination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alerts</a:t>
            </a:r>
            <a:r>
              <a:rPr dirty="0" sz="900" spc="15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(Tdap</a:t>
            </a:r>
            <a:r>
              <a:rPr dirty="0" sz="9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at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58677B"/>
                </a:solidFill>
                <a:latin typeface="Times New Roman"/>
                <a:cs typeface="Times New Roman"/>
              </a:rPr>
              <a:t>27-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36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weeks,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seasonal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Influenza,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58677B"/>
                </a:solidFill>
                <a:latin typeface="Times New Roman"/>
                <a:cs typeface="Times New Roman"/>
              </a:rPr>
              <a:t>COVID-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19)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35">
                <a:solidFill>
                  <a:srgbClr val="58677B"/>
                </a:solidFill>
                <a:latin typeface="Times New Roman"/>
                <a:cs typeface="Times New Roman"/>
              </a:rPr>
              <a:t>for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passive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antibody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transfer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58677B"/>
                </a:solidFill>
                <a:latin typeface="Times New Roman"/>
                <a:cs typeface="Times New Roman"/>
              </a:rPr>
              <a:t>to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save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infants.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135" y="4089742"/>
            <a:ext cx="15240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3.</a:t>
            </a:r>
            <a:r>
              <a:rPr dirty="0" sz="1100" spc="11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45" b="1">
                <a:solidFill>
                  <a:srgbClr val="26364B"/>
                </a:solidFill>
                <a:latin typeface="Times New Roman"/>
                <a:cs typeface="Times New Roman"/>
              </a:rPr>
              <a:t>Digital</a:t>
            </a:r>
            <a:r>
              <a:rPr dirty="0" sz="1100" spc="12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50" b="1">
                <a:solidFill>
                  <a:srgbClr val="26364B"/>
                </a:solidFill>
                <a:latin typeface="Times New Roman"/>
                <a:cs typeface="Times New Roman"/>
              </a:rPr>
              <a:t>Health</a:t>
            </a:r>
            <a:r>
              <a:rPr dirty="0" sz="1100" spc="12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-20" b="1">
                <a:solidFill>
                  <a:srgbClr val="26364B"/>
                </a:solidFill>
                <a:latin typeface="Times New Roman"/>
                <a:cs typeface="Times New Roman"/>
              </a:rPr>
              <a:t>Vault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1380" y="4089742"/>
            <a:ext cx="12954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4.</a:t>
            </a:r>
            <a:r>
              <a:rPr dirty="0" sz="1100" spc="20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Peer</a:t>
            </a:r>
            <a:r>
              <a:rPr dirty="0" sz="1100" spc="20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Birth</a:t>
            </a:r>
            <a:r>
              <a:rPr dirty="0" sz="1100" spc="21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50" b="1">
                <a:solidFill>
                  <a:srgbClr val="26364B"/>
                </a:solidFill>
                <a:latin typeface="Times New Roman"/>
                <a:cs typeface="Times New Roman"/>
              </a:rPr>
              <a:t>Clubs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7982" y="4377270"/>
            <a:ext cx="2724150" cy="5245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FHIR-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compliant</a:t>
            </a:r>
            <a:r>
              <a:rPr dirty="0" sz="900" spc="13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repository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storing</a:t>
            </a:r>
            <a:r>
              <a:rPr dirty="0" sz="900" spc="1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ultrasound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21300"/>
              </a:lnSpc>
            </a:pP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scans,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lab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panels,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doctor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consultation</a:t>
            </a:r>
            <a:r>
              <a:rPr dirty="0" sz="900" spc="10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notes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for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longitudinal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clinical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58677B"/>
                </a:solidFill>
                <a:latin typeface="Times New Roman"/>
                <a:cs typeface="Times New Roman"/>
              </a:rPr>
              <a:t>continuity.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9218" y="4377270"/>
            <a:ext cx="2649855" cy="52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100"/>
              </a:spcBef>
            </a:pPr>
            <a:r>
              <a:rPr dirty="0" sz="900" spc="80">
                <a:solidFill>
                  <a:srgbClr val="58677B"/>
                </a:solidFill>
                <a:latin typeface="Times New Roman"/>
                <a:cs typeface="Times New Roman"/>
              </a:rPr>
              <a:t>Moderated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cohorts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grouped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by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delivery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month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connecting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expectant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5">
                <a:solidFill>
                  <a:srgbClr val="58677B"/>
                </a:solidFill>
                <a:latin typeface="Times New Roman"/>
                <a:cs typeface="Times New Roman"/>
              </a:rPr>
              <a:t>mothers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with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certified 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pediatricians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&amp;</a:t>
            </a:r>
            <a:r>
              <a:rPr dirty="0" sz="900" spc="254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lactation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specialists.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980" y="6481051"/>
            <a:ext cx="4761230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Key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Innovation: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Combines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clinical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decision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support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with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empathetic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0">
                <a:solidFill>
                  <a:srgbClr val="76879C"/>
                </a:solidFill>
                <a:latin typeface="Times New Roman"/>
                <a:cs typeface="Times New Roman"/>
              </a:rPr>
              <a:t>community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care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on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IBM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Cloud.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02773" y="6481051"/>
            <a:ext cx="135318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MaaSathi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Maternal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Health Platform 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2540" y="297179"/>
            <a:ext cx="2887980" cy="266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" y="899160"/>
            <a:ext cx="228600" cy="236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59" y="274320"/>
            <a:ext cx="1897380" cy="32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" y="1303019"/>
            <a:ext cx="11369040" cy="51282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87777" y="344023"/>
            <a:ext cx="27819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TECHNICAL</a:t>
            </a:r>
            <a:r>
              <a:rPr dirty="0" sz="1100" spc="-15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70" b="1">
                <a:solidFill>
                  <a:srgbClr val="077BFE"/>
                </a:solidFill>
                <a:latin typeface="Times New Roman"/>
                <a:cs typeface="Times New Roman"/>
              </a:rPr>
              <a:t>APPROACH</a:t>
            </a:r>
            <a:r>
              <a:rPr dirty="0" sz="1100" spc="1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77BFE"/>
                </a:solidFill>
                <a:latin typeface="Times New Roman"/>
                <a:cs typeface="Times New Roman"/>
              </a:rPr>
              <a:t>&amp;</a:t>
            </a:r>
            <a:r>
              <a:rPr dirty="0" sz="1100" spc="-12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>
                <a:solidFill>
                  <a:srgbClr val="077BFE"/>
                </a:solidFill>
                <a:latin typeface="Times New Roman"/>
                <a:cs typeface="Times New Roman"/>
              </a:rPr>
              <a:t>ARCHITECTURE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System</a:t>
            </a:r>
            <a:r>
              <a:rPr dirty="0" spc="170"/>
              <a:t> </a:t>
            </a:r>
            <a:r>
              <a:rPr dirty="0" spc="140"/>
              <a:t>Architecture</a:t>
            </a:r>
            <a:r>
              <a:rPr dirty="0" spc="250"/>
              <a:t> </a:t>
            </a:r>
            <a:r>
              <a:rPr dirty="0"/>
              <a:t>&amp;</a:t>
            </a:r>
            <a:r>
              <a:rPr dirty="0" spc="415"/>
              <a:t> </a:t>
            </a:r>
            <a:r>
              <a:rPr dirty="0" spc="135"/>
              <a:t>Technology</a:t>
            </a:r>
            <a:r>
              <a:rPr dirty="0" spc="265"/>
              <a:t> </a:t>
            </a:r>
            <a:r>
              <a:rPr dirty="0" spc="120"/>
              <a:t>Stack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0895" y="1474451"/>
            <a:ext cx="5390515" cy="9505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dirty="0" sz="1100" spc="65" b="1">
                <a:solidFill>
                  <a:srgbClr val="26364B"/>
                </a:solidFill>
                <a:latin typeface="Times New Roman"/>
                <a:cs typeface="Times New Roman"/>
              </a:rPr>
              <a:t>Multi-</a:t>
            </a:r>
            <a:r>
              <a:rPr dirty="0" sz="1100" spc="45" b="1">
                <a:solidFill>
                  <a:srgbClr val="26364B"/>
                </a:solidFill>
                <a:latin typeface="Times New Roman"/>
                <a:cs typeface="Times New Roman"/>
              </a:rPr>
              <a:t>Tier</a:t>
            </a:r>
            <a:r>
              <a:rPr dirty="0" sz="1100" spc="10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60" b="1">
                <a:solidFill>
                  <a:srgbClr val="26364B"/>
                </a:solidFill>
                <a:latin typeface="Times New Roman"/>
                <a:cs typeface="Times New Roman"/>
              </a:rPr>
              <a:t>Technology</a:t>
            </a:r>
            <a:r>
              <a:rPr dirty="0" sz="1100" spc="15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65" b="1">
                <a:solidFill>
                  <a:srgbClr val="26364B"/>
                </a:solidFill>
                <a:latin typeface="Times New Roman"/>
                <a:cs typeface="Times New Roman"/>
              </a:rPr>
              <a:t>Stack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5"/>
              </a:spcBef>
            </a:pP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Frontend:</a:t>
            </a:r>
            <a:r>
              <a:rPr dirty="0" sz="900" spc="13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React</a:t>
            </a:r>
            <a:r>
              <a:rPr dirty="0" sz="900" spc="14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Native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20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415167"/>
                </a:solidFill>
                <a:latin typeface="Times New Roman"/>
                <a:cs typeface="Times New Roman"/>
              </a:rPr>
              <a:t>PWA</a:t>
            </a:r>
            <a:r>
              <a:rPr dirty="0" sz="900" spc="13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with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multilingual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voice</a:t>
            </a:r>
            <a:r>
              <a:rPr dirty="0" sz="900" spc="13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input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(Hindi,</a:t>
            </a:r>
            <a:r>
              <a:rPr dirty="0" sz="900" spc="12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Marathi,</a:t>
            </a:r>
            <a:r>
              <a:rPr dirty="0" sz="900" spc="13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English).</a:t>
            </a:r>
            <a:endParaRPr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85"/>
              </a:spcBef>
            </a:pPr>
            <a:r>
              <a:rPr dirty="0" sz="900" spc="20" b="1">
                <a:solidFill>
                  <a:srgbClr val="415167"/>
                </a:solidFill>
                <a:latin typeface="Times New Roman"/>
                <a:cs typeface="Times New Roman"/>
              </a:rPr>
              <a:t>AI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Engine: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IBM</a:t>
            </a:r>
            <a:r>
              <a:rPr dirty="0" sz="900" spc="19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415167"/>
                </a:solidFill>
                <a:latin typeface="Times New Roman"/>
                <a:cs typeface="Times New Roman"/>
              </a:rPr>
              <a:t>Watsonx.ai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2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Granite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415167"/>
                </a:solidFill>
                <a:latin typeface="Times New Roman"/>
                <a:cs typeface="Times New Roman"/>
              </a:rPr>
              <a:t>8B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415167"/>
                </a:solidFill>
                <a:latin typeface="Times New Roman"/>
                <a:cs typeface="Times New Roman"/>
              </a:rPr>
              <a:t>Instruct</a:t>
            </a:r>
            <a:r>
              <a:rPr dirty="0" sz="900" spc="14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model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415167"/>
                </a:solidFill>
                <a:latin typeface="Times New Roman"/>
                <a:cs typeface="Times New Roman"/>
              </a:rPr>
              <a:t>for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ICMR/WHO</a:t>
            </a:r>
            <a:r>
              <a:rPr dirty="0" sz="900" spc="19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guidelines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parsing.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Backend</a:t>
            </a:r>
            <a:r>
              <a:rPr dirty="0" sz="900" spc="15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21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Vault: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FastAPI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microservices,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IBM</a:t>
            </a:r>
            <a:r>
              <a:rPr dirty="0" sz="900" spc="20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Cloud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Object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Storage,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PostgreSQL</a:t>
            </a:r>
            <a:r>
              <a:rPr dirty="0" sz="900" spc="12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FHIR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schema.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37780" y="3303866"/>
            <a:ext cx="3879850" cy="1431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Care</a:t>
            </a:r>
            <a:r>
              <a:rPr dirty="0" sz="1100" spc="19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50" b="1">
                <a:solidFill>
                  <a:srgbClr val="26364B"/>
                </a:solidFill>
                <a:latin typeface="Times New Roman"/>
                <a:cs typeface="Times New Roman"/>
              </a:rPr>
              <a:t>Delivery</a:t>
            </a:r>
            <a:r>
              <a:rPr dirty="0" sz="1100" spc="16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35" b="1">
                <a:solidFill>
                  <a:srgbClr val="26364B"/>
                </a:solidFill>
                <a:latin typeface="Times New Roman"/>
                <a:cs typeface="Times New Roman"/>
              </a:rPr>
              <a:t>Workflow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6700"/>
              </a:lnSpc>
              <a:spcBef>
                <a:spcPts val="945"/>
              </a:spcBef>
            </a:pP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Step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1</a:t>
            </a:r>
            <a:r>
              <a:rPr dirty="0" sz="900" spc="18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(Intake):</a:t>
            </a:r>
            <a:r>
              <a:rPr dirty="0" sz="900" spc="15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Capture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gestational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age,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LMP,</a:t>
            </a:r>
            <a:r>
              <a:rPr dirty="0" sz="900" spc="19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parity,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baseline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blood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vitals.</a:t>
            </a:r>
            <a:endParaRPr sz="900">
              <a:latin typeface="Times New Roman"/>
              <a:cs typeface="Times New Roman"/>
            </a:endParaRPr>
          </a:p>
          <a:p>
            <a:pPr marL="12700" marR="20320">
              <a:lnSpc>
                <a:spcPct val="116700"/>
              </a:lnSpc>
              <a:spcBef>
                <a:spcPts val="605"/>
              </a:spcBef>
            </a:pP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Step</a:t>
            </a:r>
            <a:r>
              <a:rPr dirty="0" sz="900" spc="15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2</a:t>
            </a:r>
            <a:r>
              <a:rPr dirty="0" sz="900" spc="18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(AI</a:t>
            </a:r>
            <a:r>
              <a:rPr dirty="0" sz="900" spc="14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Triage):</a:t>
            </a:r>
            <a:r>
              <a:rPr dirty="0" sz="900" spc="15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Watsonx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model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flags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high-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risk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pregnancies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415167"/>
                </a:solidFill>
                <a:latin typeface="Times New Roman"/>
                <a:cs typeface="Times New Roman"/>
              </a:rPr>
              <a:t>and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dispatches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clinic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alerts.</a:t>
            </a:r>
            <a:endParaRPr sz="900">
              <a:latin typeface="Times New Roman"/>
              <a:cs typeface="Times New Roman"/>
            </a:endParaRPr>
          </a:p>
          <a:p>
            <a:pPr marL="12700" marR="64769">
              <a:lnSpc>
                <a:spcPct val="116700"/>
              </a:lnSpc>
              <a:spcBef>
                <a:spcPts val="635"/>
              </a:spcBef>
            </a:pP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Step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3</a:t>
            </a:r>
            <a:r>
              <a:rPr dirty="0" sz="900" spc="18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5" b="1">
                <a:solidFill>
                  <a:srgbClr val="415167"/>
                </a:solidFill>
                <a:latin typeface="Times New Roman"/>
                <a:cs typeface="Times New Roman"/>
              </a:rPr>
              <a:t>(Continuous</a:t>
            </a:r>
            <a:r>
              <a:rPr dirty="0" sz="900" spc="1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Sync):</a:t>
            </a:r>
            <a:r>
              <a:rPr dirty="0" sz="900" spc="1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>
                <a:solidFill>
                  <a:srgbClr val="415167"/>
                </a:solidFill>
                <a:latin typeface="Times New Roman"/>
                <a:cs typeface="Times New Roman"/>
              </a:rPr>
              <a:t>Automated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vaccine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push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reminders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 ABDM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health</a:t>
            </a:r>
            <a:r>
              <a:rPr dirty="0" sz="900" spc="11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record</a:t>
            </a:r>
            <a:r>
              <a:rPr dirty="0" sz="900" spc="11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sync.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980" y="6481051"/>
            <a:ext cx="4218940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Built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leveraging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IBM</a:t>
            </a:r>
            <a:r>
              <a:rPr dirty="0" sz="800" spc="1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SkillsBuild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cloud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development</a:t>
            </a:r>
            <a:r>
              <a:rPr dirty="0" sz="800" spc="15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modules</a:t>
            </a:r>
            <a:r>
              <a:rPr dirty="0" sz="800" spc="15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800" spc="25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secure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health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0">
                <a:solidFill>
                  <a:srgbClr val="76879C"/>
                </a:solidFill>
                <a:latin typeface="Times New Roman"/>
                <a:cs typeface="Times New Roman"/>
              </a:rPr>
              <a:t>data</a:t>
            </a:r>
            <a:r>
              <a:rPr dirty="0" sz="800" spc="50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76879C"/>
                </a:solidFill>
                <a:latin typeface="Times New Roman"/>
                <a:cs typeface="Times New Roman"/>
              </a:rPr>
              <a:t>s</a:t>
            </a:r>
            <a:r>
              <a:rPr dirty="0" sz="800" spc="-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tandards.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36141" y="6481051"/>
            <a:ext cx="99123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Secure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HL7</a:t>
            </a:r>
            <a:r>
              <a:rPr dirty="0" sz="800" spc="17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800" spc="19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35">
                <a:solidFill>
                  <a:srgbClr val="76879C"/>
                </a:solidFill>
                <a:latin typeface="Times New Roman"/>
                <a:cs typeface="Times New Roman"/>
              </a:rPr>
              <a:t>FHIR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Protocols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4059" y="297179"/>
            <a:ext cx="2164079" cy="266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" y="899160"/>
            <a:ext cx="228600" cy="236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59" y="274320"/>
            <a:ext cx="1348740" cy="32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" y="1303019"/>
            <a:ext cx="3695700" cy="11658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51959" y="1303019"/>
            <a:ext cx="3695700" cy="11658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9580" y="1303019"/>
            <a:ext cx="3718560" cy="11658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9100" y="2560320"/>
            <a:ext cx="11369040" cy="38938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44535" y="344023"/>
            <a:ext cx="28327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5" b="1">
                <a:solidFill>
                  <a:srgbClr val="077BFE"/>
                </a:solidFill>
                <a:latin typeface="Times New Roman"/>
                <a:cs typeface="Times New Roman"/>
              </a:rPr>
              <a:t>VIABILITY,</a:t>
            </a:r>
            <a:r>
              <a:rPr dirty="0" sz="1100" spc="-4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55" b="1">
                <a:solidFill>
                  <a:srgbClr val="077BFE"/>
                </a:solidFill>
                <a:latin typeface="Times New Roman"/>
                <a:cs typeface="Times New Roman"/>
              </a:rPr>
              <a:t>RISKS</a:t>
            </a:r>
            <a:r>
              <a:rPr dirty="0" sz="1100" spc="-4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77BFE"/>
                </a:solidFill>
                <a:latin typeface="Times New Roman"/>
                <a:cs typeface="Times New Roman"/>
              </a:rPr>
              <a:t>&amp;</a:t>
            </a:r>
            <a:r>
              <a:rPr dirty="0" sz="1100" spc="-7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75" b="1">
                <a:solidFill>
                  <a:srgbClr val="077BFE"/>
                </a:solidFill>
                <a:latin typeface="Times New Roman"/>
                <a:cs typeface="Times New Roman"/>
              </a:rPr>
              <a:t>MITIGATION</a:t>
            </a:r>
            <a:r>
              <a:rPr dirty="0" sz="1100" spc="-5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70" b="1">
                <a:solidFill>
                  <a:srgbClr val="077BFE"/>
                </a:solidFill>
                <a:latin typeface="Times New Roman"/>
                <a:cs typeface="Times New Roman"/>
              </a:rPr>
              <a:t>STRATEGY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Viability </a:t>
            </a:r>
            <a:r>
              <a:rPr dirty="0" spc="120"/>
              <a:t>Analysis</a:t>
            </a:r>
            <a:r>
              <a:rPr dirty="0" spc="225"/>
              <a:t> </a:t>
            </a:r>
            <a:r>
              <a:rPr dirty="0"/>
              <a:t>&amp;</a:t>
            </a:r>
            <a:r>
              <a:rPr dirty="0" spc="370"/>
              <a:t> </a:t>
            </a:r>
            <a:r>
              <a:rPr dirty="0" spc="100"/>
              <a:t>Risk</a:t>
            </a:r>
            <a:r>
              <a:rPr dirty="0" spc="240"/>
              <a:t> </a:t>
            </a:r>
            <a:r>
              <a:rPr dirty="0" spc="135"/>
              <a:t>Management 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9779" y="1484782"/>
            <a:ext cx="14585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0" b="1">
                <a:solidFill>
                  <a:srgbClr val="26364B"/>
                </a:solidFill>
                <a:latin typeface="Times New Roman"/>
                <a:cs typeface="Times New Roman"/>
              </a:rPr>
              <a:t>Technical</a:t>
            </a:r>
            <a:r>
              <a:rPr dirty="0" sz="1100" spc="14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60" b="1">
                <a:solidFill>
                  <a:srgbClr val="26364B"/>
                </a:solidFill>
                <a:latin typeface="Times New Roman"/>
                <a:cs typeface="Times New Roman"/>
              </a:rPr>
              <a:t>Feasibility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5217" y="1484782"/>
            <a:ext cx="12884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 b="1">
                <a:solidFill>
                  <a:srgbClr val="26364B"/>
                </a:solidFill>
                <a:latin typeface="Times New Roman"/>
                <a:cs typeface="Times New Roman"/>
              </a:rPr>
              <a:t>Financial</a:t>
            </a:r>
            <a:r>
              <a:rPr dirty="0" sz="1100" spc="13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40" b="1">
                <a:solidFill>
                  <a:srgbClr val="26364B"/>
                </a:solidFill>
                <a:latin typeface="Times New Roman"/>
                <a:cs typeface="Times New Roman"/>
              </a:rPr>
              <a:t>Viability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01023" y="1484782"/>
            <a:ext cx="16490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75" b="1">
                <a:solidFill>
                  <a:srgbClr val="26364B"/>
                </a:solidFill>
                <a:latin typeface="Times New Roman"/>
                <a:cs typeface="Times New Roman"/>
              </a:rPr>
              <a:t>Operational</a:t>
            </a:r>
            <a:r>
              <a:rPr dirty="0" sz="1100" spc="16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70" b="1">
                <a:solidFill>
                  <a:srgbClr val="26364B"/>
                </a:solidFill>
                <a:latin typeface="Times New Roman"/>
                <a:cs typeface="Times New Roman"/>
              </a:rPr>
              <a:t>Scalability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337" y="1771573"/>
            <a:ext cx="3166745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100"/>
              </a:spcBef>
            </a:pP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Lightweight</a:t>
            </a:r>
            <a:r>
              <a:rPr dirty="0" sz="900" spc="13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microservices</a:t>
            </a:r>
            <a:r>
              <a:rPr dirty="0" sz="900" spc="1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open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HL7/FHIR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protocols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ensuring</a:t>
            </a:r>
            <a:r>
              <a:rPr dirty="0" sz="900" spc="12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compatibility</a:t>
            </a:r>
            <a:r>
              <a:rPr dirty="0" sz="900" spc="13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with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existing</a:t>
            </a:r>
            <a:r>
              <a:rPr dirty="0" sz="900" spc="12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hospital</a:t>
            </a:r>
            <a:r>
              <a:rPr dirty="0" sz="900" spc="13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HMIS.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3778" y="1771573"/>
            <a:ext cx="3139440" cy="53022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Freemium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B2C</a:t>
            </a:r>
            <a:r>
              <a:rPr dirty="0" sz="900" spc="21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tier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for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mothers,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SaaS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B2B</a:t>
            </a:r>
            <a:r>
              <a:rPr dirty="0" sz="9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58677B"/>
                </a:solidFill>
                <a:latin typeface="Times New Roman"/>
                <a:cs typeface="Times New Roman"/>
              </a:rPr>
              <a:t>clinic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ts val="1350"/>
              </a:lnSpc>
              <a:spcBef>
                <a:spcPts val="50"/>
              </a:spcBef>
            </a:pP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subscriptions,</a:t>
            </a:r>
            <a:r>
              <a:rPr dirty="0" sz="900" spc="12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public</a:t>
            </a:r>
            <a:r>
              <a:rPr dirty="0" sz="900" spc="13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58677B"/>
                </a:solidFill>
                <a:latin typeface="Times New Roman"/>
                <a:cs typeface="Times New Roman"/>
              </a:rPr>
              <a:t>PHC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deployment</a:t>
            </a:r>
            <a:r>
              <a:rPr dirty="0" sz="900" spc="1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through</a:t>
            </a:r>
            <a:r>
              <a:rPr dirty="0" sz="900" spc="1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CSR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&amp;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58677B"/>
                </a:solidFill>
                <a:latin typeface="Times New Roman"/>
                <a:cs typeface="Times New Roman"/>
              </a:rPr>
              <a:t>NHM.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39221" y="1771573"/>
            <a:ext cx="2966085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100"/>
              </a:spcBef>
            </a:pP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Offline-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first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architecture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with</a:t>
            </a:r>
            <a:r>
              <a:rPr dirty="0" sz="9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SMS</a:t>
            </a:r>
            <a:r>
              <a:rPr dirty="0" sz="900" spc="24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fallback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gateways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enables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deployment</a:t>
            </a:r>
            <a:r>
              <a:rPr dirty="0" sz="900" spc="19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even</a:t>
            </a:r>
            <a:r>
              <a:rPr dirty="0" sz="900" spc="204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in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tier-</a:t>
            </a:r>
            <a:r>
              <a:rPr dirty="0" sz="900">
                <a:solidFill>
                  <a:srgbClr val="58677B"/>
                </a:solidFill>
                <a:latin typeface="Times New Roman"/>
                <a:cs typeface="Times New Roman"/>
              </a:rPr>
              <a:t>2/3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rural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PHCs.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1698" y="3073882"/>
            <a:ext cx="14814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0">
                <a:solidFill>
                  <a:srgbClr val="FEFEFE"/>
                </a:solidFill>
                <a:latin typeface="Times New Roman"/>
                <a:cs typeface="Times New Roman"/>
              </a:rPr>
              <a:t>Potential</a:t>
            </a:r>
            <a:r>
              <a:rPr dirty="0" sz="900" spc="13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FEFEFE"/>
                </a:solidFill>
                <a:latin typeface="Times New Roman"/>
                <a:cs typeface="Times New Roman"/>
              </a:rPr>
              <a:t>Challenge</a:t>
            </a:r>
            <a:r>
              <a:rPr dirty="0" sz="900" spc="15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FEFEFE"/>
                </a:solidFill>
                <a:latin typeface="Times New Roman"/>
                <a:cs typeface="Times New Roman"/>
              </a:rPr>
              <a:t>/</a:t>
            </a:r>
            <a:r>
              <a:rPr dirty="0" sz="900" spc="12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FEFEFE"/>
                </a:solidFill>
                <a:latin typeface="Times New Roman"/>
                <a:cs typeface="Times New Roman"/>
              </a:rPr>
              <a:t>Risk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698" y="3454095"/>
            <a:ext cx="22326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Health</a:t>
            </a:r>
            <a:r>
              <a:rPr dirty="0" sz="900" spc="16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>
                <a:solidFill>
                  <a:srgbClr val="415167"/>
                </a:solidFill>
                <a:latin typeface="Times New Roman"/>
                <a:cs typeface="Times New Roman"/>
              </a:rPr>
              <a:t>Data</a:t>
            </a:r>
            <a:r>
              <a:rPr dirty="0" sz="900" spc="20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>
                <a:solidFill>
                  <a:srgbClr val="415167"/>
                </a:solidFill>
                <a:latin typeface="Times New Roman"/>
                <a:cs typeface="Times New Roman"/>
              </a:rPr>
              <a:t>Privacy</a:t>
            </a:r>
            <a:r>
              <a:rPr dirty="0" sz="900" spc="1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2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0" b="1">
                <a:solidFill>
                  <a:srgbClr val="415167"/>
                </a:solidFill>
                <a:latin typeface="Times New Roman"/>
                <a:cs typeface="Times New Roman"/>
              </a:rPr>
              <a:t>Compliance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9459" y="2717469"/>
            <a:ext cx="7793990" cy="966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100"/>
              </a:spcBef>
            </a:pPr>
            <a:r>
              <a:rPr dirty="0" sz="1000" spc="60" b="1">
                <a:solidFill>
                  <a:srgbClr val="101E36"/>
                </a:solidFill>
                <a:latin typeface="Times New Roman"/>
                <a:cs typeface="Times New Roman"/>
              </a:rPr>
              <a:t>Risk</a:t>
            </a:r>
            <a:r>
              <a:rPr dirty="0" sz="1000" spc="135" b="1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000" spc="70" b="1">
                <a:solidFill>
                  <a:srgbClr val="101E36"/>
                </a:solidFill>
                <a:latin typeface="Times New Roman"/>
                <a:cs typeface="Times New Roman"/>
              </a:rPr>
              <a:t>Matrix</a:t>
            </a:r>
            <a:r>
              <a:rPr dirty="0" sz="1000" spc="145" b="1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101E36"/>
                </a:solidFill>
                <a:latin typeface="Times New Roman"/>
                <a:cs typeface="Times New Roman"/>
              </a:rPr>
              <a:t>&amp;</a:t>
            </a:r>
            <a:r>
              <a:rPr dirty="0" sz="1000" spc="229" b="1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000" spc="60" b="1">
                <a:solidFill>
                  <a:srgbClr val="101E36"/>
                </a:solidFill>
                <a:latin typeface="Times New Roman"/>
                <a:cs typeface="Times New Roman"/>
              </a:rPr>
              <a:t>Strategic</a:t>
            </a:r>
            <a:r>
              <a:rPr dirty="0" sz="1000" spc="130" b="1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000" spc="75" b="1">
                <a:solidFill>
                  <a:srgbClr val="101E36"/>
                </a:solidFill>
                <a:latin typeface="Times New Roman"/>
                <a:cs typeface="Times New Roman"/>
              </a:rPr>
              <a:t>Countermeasures</a:t>
            </a:r>
            <a:r>
              <a:rPr dirty="0" sz="1000" spc="140" b="1">
                <a:solidFill>
                  <a:srgbClr val="101E36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00A37B"/>
                </a:solidFill>
                <a:latin typeface="Times New Roman"/>
                <a:cs typeface="Times New Roman"/>
              </a:rPr>
              <a:t>100%</a:t>
            </a:r>
            <a:r>
              <a:rPr dirty="0" sz="1000" spc="175">
                <a:solidFill>
                  <a:srgbClr val="00A37B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00A37B"/>
                </a:solidFill>
                <a:latin typeface="Times New Roman"/>
                <a:cs typeface="Times New Roman"/>
              </a:rPr>
              <a:t>Risk</a:t>
            </a:r>
            <a:r>
              <a:rPr dirty="0" sz="1000" spc="75">
                <a:solidFill>
                  <a:srgbClr val="00A37B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00A37B"/>
                </a:solidFill>
                <a:latin typeface="Times New Roman"/>
                <a:cs typeface="Times New Roman"/>
              </a:rPr>
              <a:t>Addressed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556385" algn="l"/>
              </a:tabLst>
            </a:pPr>
            <a:r>
              <a:rPr dirty="0" sz="900">
                <a:solidFill>
                  <a:srgbClr val="FEFEFE"/>
                </a:solidFill>
                <a:latin typeface="Times New Roman"/>
                <a:cs typeface="Times New Roman"/>
              </a:rPr>
              <a:t>Risk</a:t>
            </a:r>
            <a:r>
              <a:rPr dirty="0" sz="900" spc="26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FEFEFE"/>
                </a:solidFill>
                <a:latin typeface="Times New Roman"/>
                <a:cs typeface="Times New Roman"/>
              </a:rPr>
              <a:t>Level</a:t>
            </a:r>
            <a:r>
              <a:rPr dirty="0" sz="900">
                <a:solidFill>
                  <a:srgbClr val="FEFEFE"/>
                </a:solidFill>
                <a:latin typeface="Times New Roman"/>
                <a:cs typeface="Times New Roman"/>
              </a:rPr>
              <a:t>	</a:t>
            </a:r>
            <a:r>
              <a:rPr dirty="0" sz="900" spc="65">
                <a:solidFill>
                  <a:srgbClr val="FEFEFE"/>
                </a:solidFill>
                <a:latin typeface="Times New Roman"/>
                <a:cs typeface="Times New Roman"/>
              </a:rPr>
              <a:t>Strategic</a:t>
            </a:r>
            <a:r>
              <a:rPr dirty="0" sz="900" spc="16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FEFEFE"/>
                </a:solidFill>
                <a:latin typeface="Times New Roman"/>
                <a:cs typeface="Times New Roman"/>
              </a:rPr>
              <a:t>Mitigation</a:t>
            </a:r>
            <a:r>
              <a:rPr dirty="0" sz="900" spc="17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FEFEFE"/>
                </a:solidFill>
                <a:latin typeface="Times New Roman"/>
                <a:cs typeface="Times New Roman"/>
              </a:rPr>
              <a:t>Strategy 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900">
              <a:latin typeface="Times New Roman"/>
              <a:cs typeface="Times New Roman"/>
            </a:endParaRPr>
          </a:p>
          <a:p>
            <a:pPr marL="1556385" marR="5080">
              <a:lnSpc>
                <a:spcPts val="1050"/>
              </a:lnSpc>
            </a:pP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End-to-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end</a:t>
            </a:r>
            <a:r>
              <a:rPr dirty="0" sz="900" spc="105">
                <a:solidFill>
                  <a:srgbClr val="415167"/>
                </a:solidFill>
                <a:latin typeface="Times New Roman"/>
                <a:cs typeface="Times New Roman"/>
              </a:rPr>
              <a:t> AES-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256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encryption,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HIPAA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compliance,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3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5">
                <a:solidFill>
                  <a:srgbClr val="415167"/>
                </a:solidFill>
                <a:latin typeface="Times New Roman"/>
                <a:cs typeface="Times New Roman"/>
              </a:rPr>
              <a:t>ABDM</a:t>
            </a:r>
            <a:r>
              <a:rPr dirty="0" sz="900" spc="23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(Ayushman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Bharat)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sandbox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consent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manager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integration.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3458" y="3805161"/>
            <a:ext cx="1952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Digital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Literacy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 b="1">
                <a:solidFill>
                  <a:srgbClr val="415167"/>
                </a:solidFill>
                <a:latin typeface="Times New Roman"/>
                <a:cs typeface="Times New Roman"/>
              </a:rPr>
              <a:t>in</a:t>
            </a:r>
            <a:r>
              <a:rPr dirty="0" sz="900" spc="20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5" b="1">
                <a:solidFill>
                  <a:srgbClr val="415167"/>
                </a:solidFill>
                <a:latin typeface="Times New Roman"/>
                <a:cs typeface="Times New Roman"/>
              </a:rPr>
              <a:t>Rural</a:t>
            </a:r>
            <a:r>
              <a:rPr dirty="0" sz="900" spc="14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Areas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55260" y="3805161"/>
            <a:ext cx="64274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15167"/>
                </a:solidFill>
                <a:latin typeface="Times New Roman"/>
                <a:cs typeface="Times New Roman"/>
              </a:rPr>
              <a:t>Ve</a:t>
            </a:r>
            <a:r>
              <a:rPr dirty="0" sz="900" spc="-13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rnacular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audio-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visual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prompts,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icon-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driven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UI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navigation,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dedicated</a:t>
            </a:r>
            <a:r>
              <a:rPr dirty="0" sz="900" spc="114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5">
                <a:solidFill>
                  <a:srgbClr val="415167"/>
                </a:solidFill>
                <a:latin typeface="Times New Roman"/>
                <a:cs typeface="Times New Roman"/>
              </a:rPr>
              <a:t>ASHA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worker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co-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pilot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interface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mode.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1698" y="4215853"/>
            <a:ext cx="1864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AI</a:t>
            </a:r>
            <a:r>
              <a:rPr dirty="0" sz="900" spc="19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Clinical</a:t>
            </a:r>
            <a:r>
              <a:rPr dirty="0" sz="900" spc="16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Hallucination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Risk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3510" y="4149559"/>
            <a:ext cx="6277610" cy="2959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RAG</a:t>
            </a:r>
            <a:r>
              <a:rPr dirty="0" sz="900" spc="21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constrained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strictly</a:t>
            </a:r>
            <a:r>
              <a:rPr dirty="0" sz="900" spc="14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to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validated</a:t>
            </a:r>
            <a:r>
              <a:rPr dirty="0" sz="900" spc="13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5">
                <a:solidFill>
                  <a:srgbClr val="415167"/>
                </a:solidFill>
                <a:latin typeface="Times New Roman"/>
                <a:cs typeface="Times New Roman"/>
              </a:rPr>
              <a:t>WHO/ICMR</a:t>
            </a:r>
            <a:r>
              <a:rPr dirty="0" sz="900" spc="21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clinical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guidelines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with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physician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disclaimers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confidence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score</a:t>
            </a:r>
            <a:r>
              <a:rPr dirty="0" sz="900" spc="19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thresholds.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6336" y="6481051"/>
            <a:ext cx="423989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Compliant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with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Indian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Digital</a:t>
            </a:r>
            <a:r>
              <a:rPr dirty="0" sz="800" spc="114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Personal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Data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Protection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(DPDP)</a:t>
            </a:r>
            <a:r>
              <a:rPr dirty="0" sz="800" spc="9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Act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800" spc="1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Healthcare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76879C"/>
                </a:solidFill>
                <a:latin typeface="Times New Roman"/>
                <a:cs typeface="Times New Roman"/>
              </a:rPr>
              <a:t>IT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 Stan</a:t>
            </a:r>
            <a:r>
              <a:rPr dirty="0" sz="800" spc="-9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dards.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26424" y="6481051"/>
            <a:ext cx="107759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85">
                <a:solidFill>
                  <a:srgbClr val="76879C"/>
                </a:solidFill>
                <a:latin typeface="Times New Roman"/>
                <a:cs typeface="Times New Roman"/>
              </a:rPr>
              <a:t>Comprehensive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0">
                <a:solidFill>
                  <a:srgbClr val="76879C"/>
                </a:solidFill>
                <a:latin typeface="Times New Roman"/>
                <a:cs typeface="Times New Roman"/>
              </a:rPr>
              <a:t>Risk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Controls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659" y="297179"/>
            <a:ext cx="2308859" cy="266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" y="899160"/>
            <a:ext cx="236220" cy="236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" y="274320"/>
            <a:ext cx="1676400" cy="32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" y="1303019"/>
            <a:ext cx="11376660" cy="51282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68182" y="344023"/>
            <a:ext cx="27914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5" b="1">
                <a:solidFill>
                  <a:srgbClr val="077BFE"/>
                </a:solidFill>
                <a:latin typeface="Times New Roman"/>
                <a:cs typeface="Times New Roman"/>
              </a:rPr>
              <a:t>MEASURABLE</a:t>
            </a:r>
            <a:r>
              <a:rPr dirty="0" sz="1100" spc="-2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CLINICAL</a:t>
            </a:r>
            <a:r>
              <a:rPr dirty="0" sz="1100" spc="-11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77BFE"/>
                </a:solidFill>
                <a:latin typeface="Times New Roman"/>
                <a:cs typeface="Times New Roman"/>
              </a:rPr>
              <a:t>&amp;</a:t>
            </a:r>
            <a:r>
              <a:rPr dirty="0" sz="1100" spc="-6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SOCIAL</a:t>
            </a:r>
            <a:r>
              <a:rPr dirty="0" sz="1100" spc="-114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>
                <a:solidFill>
                  <a:srgbClr val="077BFE"/>
                </a:solidFill>
                <a:latin typeface="Times New Roman"/>
                <a:cs typeface="Times New Roman"/>
              </a:rPr>
              <a:t>IMPACT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Measurable</a:t>
            </a:r>
            <a:r>
              <a:rPr dirty="0" spc="270"/>
              <a:t> </a:t>
            </a:r>
            <a:r>
              <a:rPr dirty="0" spc="155"/>
              <a:t>Outcomes</a:t>
            </a:r>
            <a:r>
              <a:rPr dirty="0" spc="295"/>
              <a:t> </a:t>
            </a:r>
            <a:r>
              <a:rPr dirty="0"/>
              <a:t>&amp;</a:t>
            </a:r>
            <a:r>
              <a:rPr dirty="0" spc="415"/>
              <a:t> </a:t>
            </a:r>
            <a:r>
              <a:rPr dirty="0" spc="135"/>
              <a:t>Health</a:t>
            </a:r>
            <a:r>
              <a:rPr dirty="0" spc="240"/>
              <a:t> </a:t>
            </a:r>
            <a:r>
              <a:rPr dirty="0" spc="125"/>
              <a:t>Transformation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1659" y="1289545"/>
            <a:ext cx="1900555" cy="523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27305">
              <a:lnSpc>
                <a:spcPct val="100000"/>
              </a:lnSpc>
              <a:spcBef>
                <a:spcPts val="650"/>
              </a:spcBef>
            </a:pPr>
            <a:r>
              <a:rPr dirty="0" sz="1800" spc="110">
                <a:solidFill>
                  <a:srgbClr val="077BFE"/>
                </a:solidFill>
                <a:latin typeface="Times New Roman"/>
                <a:cs typeface="Times New Roman"/>
              </a:rPr>
              <a:t>40% 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Reduction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in</a:t>
            </a:r>
            <a:r>
              <a:rPr dirty="0" sz="800" spc="17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Missed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Antenatal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0">
                <a:solidFill>
                  <a:srgbClr val="76879C"/>
                </a:solidFill>
                <a:latin typeface="Times New Roman"/>
                <a:cs typeface="Times New Roman"/>
              </a:rPr>
              <a:t>Visits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7456" y="1289545"/>
            <a:ext cx="1639570" cy="523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650"/>
              </a:spcBef>
            </a:pPr>
            <a:r>
              <a:rPr dirty="0" sz="1800" spc="110">
                <a:solidFill>
                  <a:srgbClr val="00A37B"/>
                </a:solidFill>
                <a:latin typeface="Times New Roman"/>
                <a:cs typeface="Times New Roman"/>
              </a:rPr>
              <a:t>92% 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Vaccine</a:t>
            </a:r>
            <a:r>
              <a:rPr dirty="0" sz="800" spc="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0">
                <a:solidFill>
                  <a:srgbClr val="76879C"/>
                </a:solidFill>
                <a:latin typeface="Times New Roman"/>
                <a:cs typeface="Times New Roman"/>
              </a:rPr>
              <a:t>Adherence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(Tdap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/</a:t>
            </a:r>
            <a:r>
              <a:rPr dirty="0" sz="800" spc="11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35">
                <a:solidFill>
                  <a:srgbClr val="76879C"/>
                </a:solidFill>
                <a:latin typeface="Times New Roman"/>
                <a:cs typeface="Times New Roman"/>
              </a:rPr>
              <a:t>Flu)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6774" y="3399256"/>
            <a:ext cx="4104004" cy="826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015">
              <a:lnSpc>
                <a:spcPct val="100000"/>
              </a:lnSpc>
              <a:spcBef>
                <a:spcPts val="100"/>
              </a:spcBef>
            </a:pPr>
            <a:r>
              <a:rPr dirty="0" sz="1100" spc="55" b="1">
                <a:solidFill>
                  <a:srgbClr val="26364B"/>
                </a:solidFill>
                <a:latin typeface="Times New Roman"/>
                <a:cs typeface="Times New Roman"/>
              </a:rPr>
              <a:t>UN</a:t>
            </a:r>
            <a:r>
              <a:rPr dirty="0" sz="1100" spc="20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75" b="1">
                <a:solidFill>
                  <a:srgbClr val="26364B"/>
                </a:solidFill>
                <a:latin typeface="Times New Roman"/>
                <a:cs typeface="Times New Roman"/>
              </a:rPr>
              <a:t>Sustainable</a:t>
            </a:r>
            <a:r>
              <a:rPr dirty="0" sz="1100" spc="15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85" b="1">
                <a:solidFill>
                  <a:srgbClr val="26364B"/>
                </a:solidFill>
                <a:latin typeface="Times New Roman"/>
                <a:cs typeface="Times New Roman"/>
              </a:rPr>
              <a:t>Development</a:t>
            </a:r>
            <a:r>
              <a:rPr dirty="0" sz="1100" spc="15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80" b="1">
                <a:solidFill>
                  <a:srgbClr val="26364B"/>
                </a:solidFill>
                <a:latin typeface="Times New Roman"/>
                <a:cs typeface="Times New Roman"/>
              </a:rPr>
              <a:t>Goals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Directly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accelerates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100" b="1">
                <a:solidFill>
                  <a:srgbClr val="58677B"/>
                </a:solidFill>
                <a:latin typeface="Times New Roman"/>
                <a:cs typeface="Times New Roman"/>
              </a:rPr>
              <a:t>SDG</a:t>
            </a:r>
            <a:r>
              <a:rPr dirty="0" sz="900" spc="225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58677B"/>
                </a:solidFill>
                <a:latin typeface="Times New Roman"/>
                <a:cs typeface="Times New Roman"/>
              </a:rPr>
              <a:t>3</a:t>
            </a:r>
            <a:r>
              <a:rPr dirty="0" sz="900" spc="185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58677B"/>
                </a:solidFill>
                <a:latin typeface="Times New Roman"/>
                <a:cs typeface="Times New Roman"/>
              </a:rPr>
              <a:t>(Good</a:t>
            </a:r>
            <a:r>
              <a:rPr dirty="0" sz="900" spc="185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58677B"/>
                </a:solidFill>
                <a:latin typeface="Times New Roman"/>
                <a:cs typeface="Times New Roman"/>
              </a:rPr>
              <a:t>Health</a:t>
            </a:r>
            <a:r>
              <a:rPr dirty="0" sz="900" spc="175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58677B"/>
                </a:solidFill>
                <a:latin typeface="Times New Roman"/>
                <a:cs typeface="Times New Roman"/>
              </a:rPr>
              <a:t>&amp;</a:t>
            </a:r>
            <a:r>
              <a:rPr dirty="0" sz="900" spc="240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58677B"/>
                </a:solidFill>
                <a:latin typeface="Times New Roman"/>
                <a:cs typeface="Times New Roman"/>
              </a:rPr>
              <a:t>Well-</a:t>
            </a:r>
            <a:r>
              <a:rPr dirty="0" sz="900" spc="-130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58677B"/>
                </a:solidFill>
                <a:latin typeface="Times New Roman"/>
                <a:cs typeface="Times New Roman"/>
              </a:rPr>
              <a:t>being)</a:t>
            </a:r>
            <a:r>
              <a:rPr dirty="0" sz="900" spc="170" b="1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targets</a:t>
            </a:r>
            <a:r>
              <a:rPr dirty="0" sz="900" spc="14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3.1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58677B"/>
                </a:solidFill>
                <a:latin typeface="Times New Roman"/>
                <a:cs typeface="Times New Roman"/>
              </a:rPr>
              <a:t>&amp;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ts val="1350"/>
              </a:lnSpc>
              <a:spcBef>
                <a:spcPts val="45"/>
              </a:spcBef>
            </a:pP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3.2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by</a:t>
            </a:r>
            <a:r>
              <a:rPr dirty="0" sz="900" spc="19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curtailing</a:t>
            </a:r>
            <a:r>
              <a:rPr dirty="0" sz="900" spc="16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preventable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maternal</a:t>
            </a:r>
            <a:r>
              <a:rPr dirty="0" sz="900" spc="18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mortality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20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neonatal</a:t>
            </a:r>
            <a:r>
              <a:rPr dirty="0" sz="900" spc="17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infections </a:t>
            </a:r>
            <a:r>
              <a:rPr dirty="0" sz="900" spc="75">
                <a:solidFill>
                  <a:srgbClr val="58677B"/>
                </a:solidFill>
                <a:latin typeface="Times New Roman"/>
                <a:cs typeface="Times New Roman"/>
              </a:rPr>
              <a:t>through</a:t>
            </a:r>
            <a:r>
              <a:rPr dirty="0" sz="900" spc="15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58677B"/>
                </a:solidFill>
                <a:latin typeface="Times New Roman"/>
                <a:cs typeface="Times New Roman"/>
              </a:rPr>
              <a:t>automated</a:t>
            </a:r>
            <a:r>
              <a:rPr dirty="0" sz="900" spc="17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58677B"/>
                </a:solidFill>
                <a:latin typeface="Times New Roman"/>
                <a:cs typeface="Times New Roman"/>
              </a:rPr>
              <a:t>prenatal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58677B"/>
                </a:solidFill>
                <a:latin typeface="Times New Roman"/>
                <a:cs typeface="Times New Roman"/>
              </a:rPr>
              <a:t>reminders</a:t>
            </a:r>
            <a:r>
              <a:rPr dirty="0" sz="900" spc="16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58677B"/>
                </a:solidFill>
                <a:latin typeface="Times New Roman"/>
                <a:cs typeface="Times New Roman"/>
              </a:rPr>
              <a:t>and</a:t>
            </a:r>
            <a:r>
              <a:rPr dirty="0" sz="900" spc="12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58677B"/>
                </a:solidFill>
                <a:latin typeface="Times New Roman"/>
                <a:cs typeface="Times New Roman"/>
              </a:rPr>
              <a:t>AI</a:t>
            </a:r>
            <a:r>
              <a:rPr dirty="0" sz="900" spc="185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58677B"/>
                </a:solidFill>
                <a:latin typeface="Times New Roman"/>
                <a:cs typeface="Times New Roman"/>
              </a:rPr>
              <a:t>risk</a:t>
            </a:r>
            <a:r>
              <a:rPr dirty="0" sz="900" spc="150">
                <a:solidFill>
                  <a:srgbClr val="58677B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58677B"/>
                </a:solidFill>
                <a:latin typeface="Times New Roman"/>
                <a:cs typeface="Times New Roman"/>
              </a:rPr>
              <a:t>triage.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262" y="5682043"/>
            <a:ext cx="728345" cy="626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dirty="0" sz="800" spc="70">
                <a:solidFill>
                  <a:srgbClr val="415167"/>
                </a:solidFill>
                <a:latin typeface="Times New Roman"/>
                <a:cs typeface="Times New Roman"/>
              </a:rPr>
              <a:t>Unvaccinated </a:t>
            </a:r>
            <a:r>
              <a:rPr dirty="0" sz="800" spc="55">
                <a:solidFill>
                  <a:srgbClr val="415167"/>
                </a:solidFill>
                <a:latin typeface="Times New Roman"/>
                <a:cs typeface="Times New Roman"/>
              </a:rPr>
              <a:t>Cohort </a:t>
            </a:r>
            <a:endParaRPr sz="800">
              <a:latin typeface="Times New Roman"/>
              <a:cs typeface="Times New Roman"/>
            </a:endParaRPr>
          </a:p>
          <a:p>
            <a:pPr marL="12700" marR="155575">
              <a:lnSpc>
                <a:spcPct val="106300"/>
              </a:lnSpc>
              <a:spcBef>
                <a:spcPts val="645"/>
              </a:spcBef>
            </a:pPr>
            <a:r>
              <a:rPr dirty="0" sz="800" spc="55">
                <a:solidFill>
                  <a:srgbClr val="415167"/>
                </a:solidFill>
                <a:latin typeface="Times New Roman"/>
                <a:cs typeface="Times New Roman"/>
              </a:rPr>
              <a:t>MaaSathi </a:t>
            </a:r>
            <a:r>
              <a:rPr dirty="0" sz="800" spc="-10">
                <a:solidFill>
                  <a:srgbClr val="415167"/>
                </a:solidFill>
                <a:latin typeface="Times New Roman"/>
                <a:cs typeface="Times New Roman"/>
              </a:rPr>
              <a:t>Va</a:t>
            </a:r>
            <a:r>
              <a:rPr dirty="0" sz="800" spc="-10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415167"/>
                </a:solidFill>
                <a:latin typeface="Times New Roman"/>
                <a:cs typeface="Times New Roman"/>
              </a:rPr>
              <a:t>ccinated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336" y="6481051"/>
            <a:ext cx="3780790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Fostering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5">
                <a:solidFill>
                  <a:srgbClr val="76879C"/>
                </a:solidFill>
                <a:latin typeface="Times New Roman"/>
                <a:cs typeface="Times New Roman"/>
              </a:rPr>
              <a:t>zero-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preventable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5">
                <a:solidFill>
                  <a:srgbClr val="76879C"/>
                </a:solidFill>
                <a:latin typeface="Times New Roman"/>
                <a:cs typeface="Times New Roman"/>
              </a:rPr>
              <a:t>maternal</a:t>
            </a:r>
            <a:r>
              <a:rPr dirty="0" sz="800" spc="17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mortality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0">
                <a:solidFill>
                  <a:srgbClr val="76879C"/>
                </a:solidFill>
                <a:latin typeface="Times New Roman"/>
                <a:cs typeface="Times New Roman"/>
              </a:rPr>
              <a:t>through</a:t>
            </a:r>
            <a:r>
              <a:rPr dirty="0" sz="800" spc="17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digital</a:t>
            </a:r>
            <a:r>
              <a:rPr dirty="0" sz="800" spc="15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equity</a:t>
            </a:r>
            <a:r>
              <a:rPr dirty="0" sz="800" spc="16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and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clinical</a:t>
            </a:r>
            <a:r>
              <a:rPr dirty="0" sz="800" spc="2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76879C"/>
                </a:solidFill>
                <a:latin typeface="Times New Roman"/>
                <a:cs typeface="Times New Roman"/>
              </a:rPr>
              <a:t>AI.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45388" y="6481051"/>
            <a:ext cx="1668145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Sustainable</a:t>
            </a:r>
            <a:r>
              <a:rPr dirty="0" sz="800" spc="14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90">
                <a:solidFill>
                  <a:srgbClr val="76879C"/>
                </a:solidFill>
                <a:latin typeface="Times New Roman"/>
                <a:cs typeface="Times New Roman"/>
              </a:rPr>
              <a:t>Development</a:t>
            </a:r>
            <a:r>
              <a:rPr dirty="0" sz="800" spc="1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Goals Aligned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384" y="344023"/>
            <a:ext cx="25292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RESEARCH,</a:t>
            </a:r>
            <a:r>
              <a:rPr dirty="0" sz="1100" spc="-1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65" b="1">
                <a:solidFill>
                  <a:srgbClr val="077BFE"/>
                </a:solidFill>
                <a:latin typeface="Times New Roman"/>
                <a:cs typeface="Times New Roman"/>
              </a:rPr>
              <a:t>REFERENCES</a:t>
            </a:r>
            <a:r>
              <a:rPr dirty="0" sz="1100" spc="-1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77BFE"/>
                </a:solidFill>
                <a:latin typeface="Times New Roman"/>
                <a:cs typeface="Times New Roman"/>
              </a:rPr>
              <a:t>&amp;</a:t>
            </a:r>
            <a:r>
              <a:rPr dirty="0" sz="1100" spc="-50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100" spc="-45" b="1">
                <a:solidFill>
                  <a:srgbClr val="077BFE"/>
                </a:solidFill>
                <a:latin typeface="Times New Roman"/>
                <a:cs typeface="Times New Roman"/>
              </a:rPr>
              <a:t>ROADMAP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Academic</a:t>
            </a:r>
            <a:r>
              <a:rPr dirty="0" spc="250"/>
              <a:t> </a:t>
            </a:r>
            <a:r>
              <a:rPr dirty="0" spc="114"/>
              <a:t>Citations</a:t>
            </a:r>
            <a:r>
              <a:rPr dirty="0" spc="225"/>
              <a:t> </a:t>
            </a:r>
            <a:r>
              <a:rPr dirty="0"/>
              <a:t>&amp;</a:t>
            </a:r>
            <a:r>
              <a:rPr dirty="0" spc="370"/>
              <a:t> </a:t>
            </a:r>
            <a:r>
              <a:rPr dirty="0" spc="114"/>
              <a:t>Project</a:t>
            </a:r>
            <a:r>
              <a:rPr dirty="0" spc="200"/>
              <a:t> </a:t>
            </a:r>
            <a:r>
              <a:rPr dirty="0" spc="114"/>
              <a:t>Timeline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0895" y="1484782"/>
            <a:ext cx="4755515" cy="188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dirty="0" sz="1100" spc="60" b="1">
                <a:solidFill>
                  <a:srgbClr val="26364B"/>
                </a:solidFill>
                <a:latin typeface="Times New Roman"/>
                <a:cs typeface="Times New Roman"/>
              </a:rPr>
              <a:t>Research</a:t>
            </a:r>
            <a:r>
              <a:rPr dirty="0" sz="1100" spc="13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&amp;</a:t>
            </a:r>
            <a:r>
              <a:rPr dirty="0" sz="1100" spc="22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55" b="1">
                <a:solidFill>
                  <a:srgbClr val="26364B"/>
                </a:solidFill>
                <a:latin typeface="Times New Roman"/>
                <a:cs typeface="Times New Roman"/>
              </a:rPr>
              <a:t>Clinical</a:t>
            </a:r>
            <a:r>
              <a:rPr dirty="0" sz="1100" spc="130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65" b="1">
                <a:solidFill>
                  <a:srgbClr val="26364B"/>
                </a:solidFill>
                <a:latin typeface="Times New Roman"/>
                <a:cs typeface="Times New Roman"/>
              </a:rPr>
              <a:t>Foundations</a:t>
            </a:r>
            <a:endParaRPr sz="1100">
              <a:latin typeface="Times New Roman"/>
              <a:cs typeface="Times New Roman"/>
            </a:endParaRPr>
          </a:p>
          <a:p>
            <a:pPr marL="12700" marR="273050">
              <a:lnSpc>
                <a:spcPct val="116700"/>
              </a:lnSpc>
              <a:spcBef>
                <a:spcPts val="950"/>
              </a:spcBef>
            </a:pPr>
            <a:r>
              <a:rPr dirty="0" sz="900" spc="120" b="1">
                <a:solidFill>
                  <a:srgbClr val="415167"/>
                </a:solidFill>
                <a:latin typeface="Times New Roman"/>
                <a:cs typeface="Times New Roman"/>
              </a:rPr>
              <a:t>WHO</a:t>
            </a:r>
            <a:r>
              <a:rPr dirty="0" sz="900" spc="21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Antenatal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Care</a:t>
            </a:r>
            <a:r>
              <a:rPr dirty="0" sz="900" spc="19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Guidelines: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Standardized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>
                <a:solidFill>
                  <a:srgbClr val="415167"/>
                </a:solidFill>
                <a:latin typeface="Times New Roman"/>
                <a:cs typeface="Times New Roman"/>
              </a:rPr>
              <a:t>8-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contact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routine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model</a:t>
            </a:r>
            <a:r>
              <a:rPr dirty="0" sz="900" spc="19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415167"/>
                </a:solidFill>
                <a:latin typeface="Times New Roman"/>
                <a:cs typeface="Times New Roman"/>
              </a:rPr>
              <a:t>and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gestational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hypertension</a:t>
            </a:r>
            <a:r>
              <a:rPr dirty="0" sz="900" spc="20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screening. </a:t>
            </a:r>
            <a:endParaRPr sz="900">
              <a:latin typeface="Times New Roman"/>
              <a:cs typeface="Times New Roman"/>
            </a:endParaRPr>
          </a:p>
          <a:p>
            <a:pPr marL="12700" marR="84455">
              <a:lnSpc>
                <a:spcPct val="116700"/>
              </a:lnSpc>
              <a:spcBef>
                <a:spcPts val="760"/>
              </a:spcBef>
            </a:pP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CDC</a:t>
            </a:r>
            <a:r>
              <a:rPr dirty="0" sz="900" spc="204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19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>
                <a:solidFill>
                  <a:srgbClr val="415167"/>
                </a:solidFill>
                <a:latin typeface="Times New Roman"/>
                <a:cs typeface="Times New Roman"/>
              </a:rPr>
              <a:t>ACOG</a:t>
            </a:r>
            <a:r>
              <a:rPr dirty="0" sz="900" spc="22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Maternal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Immunization</a:t>
            </a:r>
            <a:r>
              <a:rPr dirty="0" sz="900" spc="18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Protocol: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Clinical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trial</a:t>
            </a:r>
            <a:r>
              <a:rPr dirty="0" sz="900" spc="13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validation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for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415167"/>
                </a:solidFill>
                <a:latin typeface="Times New Roman"/>
                <a:cs typeface="Times New Roman"/>
              </a:rPr>
              <a:t>3rd-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trimester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Tdap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229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seasonal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influenza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protection. 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16700"/>
              </a:lnSpc>
              <a:spcBef>
                <a:spcPts val="750"/>
              </a:spcBef>
            </a:pP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IBM</a:t>
            </a:r>
            <a:r>
              <a:rPr dirty="0" sz="900" spc="19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SkillsBuild</a:t>
            </a:r>
            <a:r>
              <a:rPr dirty="0" sz="900" spc="9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AI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Activity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>
                <a:solidFill>
                  <a:srgbClr val="415167"/>
                </a:solidFill>
                <a:latin typeface="Times New Roman"/>
                <a:cs typeface="Times New Roman"/>
              </a:rPr>
              <a:t>(PLAN-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DA048276D952):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Cloud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architecture,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Granite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LLM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prompt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tuning,</a:t>
            </a:r>
            <a:r>
              <a:rPr dirty="0" sz="900" spc="13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trusted</a:t>
            </a:r>
            <a:r>
              <a:rPr dirty="0" sz="900" spc="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AI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pipelines.</a:t>
            </a:r>
            <a:endParaRPr sz="900">
              <a:latin typeface="Times New Roman"/>
              <a:cs typeface="Times New Roman"/>
            </a:endParaRPr>
          </a:p>
          <a:p>
            <a:pPr marL="12700" marR="217804">
              <a:lnSpc>
                <a:spcPct val="116700"/>
              </a:lnSpc>
              <a:spcBef>
                <a:spcPts val="765"/>
              </a:spcBef>
            </a:pP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HL7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FHIR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&amp;</a:t>
            </a:r>
            <a:r>
              <a:rPr dirty="0" sz="900" spc="16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ABDM</a:t>
            </a:r>
            <a:r>
              <a:rPr dirty="0" sz="900" spc="1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Guidelines:</a:t>
            </a:r>
            <a:r>
              <a:rPr dirty="0" sz="900" spc="13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15167"/>
                </a:solidFill>
                <a:latin typeface="Times New Roman"/>
                <a:cs typeface="Times New Roman"/>
              </a:rPr>
              <a:t>Indian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National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Health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Authority</a:t>
            </a:r>
            <a:r>
              <a:rPr dirty="0" sz="900" spc="12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interoperable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electronic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health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record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specifications.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1932" y="1484782"/>
            <a:ext cx="5069205" cy="1466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dirty="0" sz="1100" spc="75" b="1">
                <a:solidFill>
                  <a:srgbClr val="26364B"/>
                </a:solidFill>
                <a:latin typeface="Times New Roman"/>
                <a:cs typeface="Times New Roman"/>
              </a:rPr>
              <a:t>Development</a:t>
            </a:r>
            <a:r>
              <a:rPr dirty="0" sz="1100" spc="13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6364B"/>
                </a:solidFill>
                <a:latin typeface="Times New Roman"/>
                <a:cs typeface="Times New Roman"/>
              </a:rPr>
              <a:t>&amp;</a:t>
            </a:r>
            <a:r>
              <a:rPr dirty="0" sz="1100" spc="204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45" b="1">
                <a:solidFill>
                  <a:srgbClr val="26364B"/>
                </a:solidFill>
                <a:latin typeface="Times New Roman"/>
                <a:cs typeface="Times New Roman"/>
              </a:rPr>
              <a:t>Pilot</a:t>
            </a:r>
            <a:r>
              <a:rPr dirty="0" sz="1100" spc="125" b="1">
                <a:solidFill>
                  <a:srgbClr val="26364B"/>
                </a:solidFill>
                <a:latin typeface="Times New Roman"/>
                <a:cs typeface="Times New Roman"/>
              </a:rPr>
              <a:t> </a:t>
            </a:r>
            <a:r>
              <a:rPr dirty="0" sz="1100" spc="65" b="1">
                <a:solidFill>
                  <a:srgbClr val="26364B"/>
                </a:solidFill>
                <a:latin typeface="Times New Roman"/>
                <a:cs typeface="Times New Roman"/>
              </a:rPr>
              <a:t>Roadmap </a:t>
            </a:r>
            <a:endParaRPr sz="1100">
              <a:latin typeface="Times New Roman"/>
              <a:cs typeface="Times New Roman"/>
            </a:endParaRPr>
          </a:p>
          <a:p>
            <a:pPr marL="12700" marR="607060">
              <a:lnSpc>
                <a:spcPct val="116700"/>
              </a:lnSpc>
              <a:spcBef>
                <a:spcPts val="950"/>
              </a:spcBef>
            </a:pP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Phase</a:t>
            </a:r>
            <a:r>
              <a:rPr dirty="0" sz="900" spc="15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1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>
                <a:solidFill>
                  <a:srgbClr val="415167"/>
                </a:solidFill>
                <a:latin typeface="Times New Roman"/>
                <a:cs typeface="Times New Roman"/>
              </a:rPr>
              <a:t>(MVP</a:t>
            </a:r>
            <a:r>
              <a:rPr dirty="0" sz="900" spc="14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Launch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-</a:t>
            </a:r>
            <a:r>
              <a:rPr dirty="0" sz="900" spc="14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Q1</a:t>
            </a:r>
            <a:r>
              <a:rPr dirty="0" sz="900" spc="19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2026):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Core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prenatal</a:t>
            </a:r>
            <a:r>
              <a:rPr dirty="0" sz="900" spc="14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tracker,</a:t>
            </a:r>
            <a:r>
              <a:rPr dirty="0" sz="900" spc="12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Watsonx</a:t>
            </a:r>
            <a:r>
              <a:rPr dirty="0" sz="900" spc="16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clinical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415167"/>
                </a:solidFill>
                <a:latin typeface="Times New Roman"/>
                <a:cs typeface="Times New Roman"/>
              </a:rPr>
              <a:t>AI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 triage,</a:t>
            </a:r>
            <a:r>
              <a:rPr dirty="0" sz="900" spc="14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9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vaccine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alert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scheduling</a:t>
            </a:r>
            <a:r>
              <a:rPr dirty="0" sz="900" spc="17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system. </a:t>
            </a:r>
            <a:endParaRPr sz="900">
              <a:latin typeface="Times New Roman"/>
              <a:cs typeface="Times New Roman"/>
            </a:endParaRPr>
          </a:p>
          <a:p>
            <a:pPr marL="12700" marR="427990">
              <a:lnSpc>
                <a:spcPct val="116700"/>
              </a:lnSpc>
              <a:spcBef>
                <a:spcPts val="760"/>
              </a:spcBef>
            </a:pP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Phase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2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(Clinical</a:t>
            </a:r>
            <a:r>
              <a:rPr dirty="0" sz="900" spc="13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Sandbox</a:t>
            </a:r>
            <a:r>
              <a:rPr dirty="0" sz="900" spc="17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-</a:t>
            </a:r>
            <a:r>
              <a:rPr dirty="0" sz="900" spc="14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 b="1">
                <a:solidFill>
                  <a:srgbClr val="415167"/>
                </a:solidFill>
                <a:latin typeface="Times New Roman"/>
                <a:cs typeface="Times New Roman"/>
              </a:rPr>
              <a:t>Q2</a:t>
            </a:r>
            <a:r>
              <a:rPr dirty="0" sz="900" spc="19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 b="1">
                <a:solidFill>
                  <a:srgbClr val="415167"/>
                </a:solidFill>
                <a:latin typeface="Times New Roman"/>
                <a:cs typeface="Times New Roman"/>
              </a:rPr>
              <a:t>2026):</a:t>
            </a:r>
            <a:r>
              <a:rPr dirty="0" sz="900" spc="15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5">
                <a:solidFill>
                  <a:srgbClr val="415167"/>
                </a:solidFill>
                <a:latin typeface="Times New Roman"/>
                <a:cs typeface="Times New Roman"/>
              </a:rPr>
              <a:t>ABDM</a:t>
            </a:r>
            <a:r>
              <a:rPr dirty="0" sz="900" spc="21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/</a:t>
            </a:r>
            <a:r>
              <a:rPr dirty="0" sz="900" spc="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100">
                <a:solidFill>
                  <a:srgbClr val="415167"/>
                </a:solidFill>
                <a:latin typeface="Times New Roman"/>
                <a:cs typeface="Times New Roman"/>
              </a:rPr>
              <a:t>ABHA</a:t>
            </a:r>
            <a:r>
              <a:rPr dirty="0" sz="900" spc="15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ID</a:t>
            </a:r>
            <a:r>
              <a:rPr dirty="0" sz="900" spc="16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integration,</a:t>
            </a:r>
            <a:r>
              <a:rPr dirty="0" sz="900" spc="13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encrypted FHIR</a:t>
            </a:r>
            <a:r>
              <a:rPr dirty="0" sz="900" spc="254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vault,</a:t>
            </a:r>
            <a:r>
              <a:rPr dirty="0" sz="900" spc="229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and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ASHA</a:t>
            </a:r>
            <a:r>
              <a:rPr dirty="0" sz="900" spc="21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co-pilot</a:t>
            </a:r>
            <a:r>
              <a:rPr dirty="0" sz="900" spc="229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mode.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16700"/>
              </a:lnSpc>
              <a:spcBef>
                <a:spcPts val="750"/>
              </a:spcBef>
            </a:pPr>
            <a:r>
              <a:rPr dirty="0" sz="900" spc="85" b="1">
                <a:solidFill>
                  <a:srgbClr val="415167"/>
                </a:solidFill>
                <a:latin typeface="Times New Roman"/>
                <a:cs typeface="Times New Roman"/>
              </a:rPr>
              <a:t>Phase</a:t>
            </a:r>
            <a:r>
              <a:rPr dirty="0" sz="900" spc="18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3</a:t>
            </a:r>
            <a:r>
              <a:rPr dirty="0" sz="900" spc="204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 b="1">
                <a:solidFill>
                  <a:srgbClr val="415167"/>
                </a:solidFill>
                <a:latin typeface="Times New Roman"/>
                <a:cs typeface="Times New Roman"/>
              </a:rPr>
              <a:t>(Hospital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Pilot</a:t>
            </a:r>
            <a:r>
              <a:rPr dirty="0" sz="900" spc="175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15167"/>
                </a:solidFill>
                <a:latin typeface="Times New Roman"/>
                <a:cs typeface="Times New Roman"/>
              </a:rPr>
              <a:t>-</a:t>
            </a:r>
            <a:r>
              <a:rPr dirty="0" sz="900" spc="16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 b="1">
                <a:solidFill>
                  <a:srgbClr val="415167"/>
                </a:solidFill>
                <a:latin typeface="Times New Roman"/>
                <a:cs typeface="Times New Roman"/>
              </a:rPr>
              <a:t>Q3</a:t>
            </a:r>
            <a:r>
              <a:rPr dirty="0" sz="900" spc="22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 b="1">
                <a:solidFill>
                  <a:srgbClr val="415167"/>
                </a:solidFill>
                <a:latin typeface="Times New Roman"/>
                <a:cs typeface="Times New Roman"/>
              </a:rPr>
              <a:t>2026):</a:t>
            </a:r>
            <a:r>
              <a:rPr dirty="0" sz="900" spc="180" b="1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90">
                <a:solidFill>
                  <a:srgbClr val="415167"/>
                </a:solidFill>
                <a:latin typeface="Times New Roman"/>
                <a:cs typeface="Times New Roman"/>
              </a:rPr>
              <a:t>Deployment</a:t>
            </a:r>
            <a:r>
              <a:rPr dirty="0" sz="900" spc="18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5">
                <a:solidFill>
                  <a:srgbClr val="415167"/>
                </a:solidFill>
                <a:latin typeface="Times New Roman"/>
                <a:cs typeface="Times New Roman"/>
              </a:rPr>
              <a:t>across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15167"/>
                </a:solidFill>
                <a:latin typeface="Times New Roman"/>
                <a:cs typeface="Times New Roman"/>
              </a:rPr>
              <a:t>5</a:t>
            </a:r>
            <a:r>
              <a:rPr dirty="0" sz="900" spc="21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district</a:t>
            </a:r>
            <a:r>
              <a:rPr dirty="0" sz="900" spc="15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80">
                <a:solidFill>
                  <a:srgbClr val="415167"/>
                </a:solidFill>
                <a:latin typeface="Times New Roman"/>
                <a:cs typeface="Times New Roman"/>
              </a:rPr>
              <a:t>maternity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clinics</a:t>
            </a:r>
            <a:r>
              <a:rPr dirty="0" sz="900" spc="10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415167"/>
                </a:solidFill>
                <a:latin typeface="Times New Roman"/>
                <a:cs typeface="Times New Roman"/>
              </a:rPr>
              <a:t>and </a:t>
            </a:r>
            <a:r>
              <a:rPr dirty="0" sz="900" spc="85">
                <a:solidFill>
                  <a:srgbClr val="415167"/>
                </a:solidFill>
                <a:latin typeface="Times New Roman"/>
                <a:cs typeface="Times New Roman"/>
              </a:rPr>
              <a:t>community</a:t>
            </a:r>
            <a:r>
              <a:rPr dirty="0" sz="900" spc="180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415167"/>
                </a:solidFill>
                <a:latin typeface="Times New Roman"/>
                <a:cs typeface="Times New Roman"/>
              </a:rPr>
              <a:t>peer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415167"/>
                </a:solidFill>
                <a:latin typeface="Times New Roman"/>
                <a:cs typeface="Times New Roman"/>
              </a:rPr>
              <a:t>network</a:t>
            </a:r>
            <a:r>
              <a:rPr dirty="0" sz="900" spc="175">
                <a:solidFill>
                  <a:srgbClr val="415167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415167"/>
                </a:solidFill>
                <a:latin typeface="Times New Roman"/>
                <a:cs typeface="Times New Roman"/>
              </a:rPr>
              <a:t>rollout.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6178" y="5762910"/>
            <a:ext cx="3320415" cy="41275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ctr" marR="18415">
              <a:lnSpc>
                <a:spcPct val="100000"/>
              </a:lnSpc>
              <a:spcBef>
                <a:spcPts val="590"/>
              </a:spcBef>
            </a:pPr>
            <a:r>
              <a:rPr dirty="0" sz="1000" spc="60" b="1">
                <a:solidFill>
                  <a:srgbClr val="077BFE"/>
                </a:solidFill>
                <a:latin typeface="Times New Roman"/>
                <a:cs typeface="Times New Roman"/>
              </a:rPr>
              <a:t>Thank</a:t>
            </a:r>
            <a:r>
              <a:rPr dirty="0" sz="1000" spc="17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77BFE"/>
                </a:solidFill>
                <a:latin typeface="Times New Roman"/>
                <a:cs typeface="Times New Roman"/>
              </a:rPr>
              <a:t>You!</a:t>
            </a:r>
            <a:r>
              <a:rPr dirty="0" sz="1000" spc="204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77BFE"/>
                </a:solidFill>
                <a:latin typeface="Times New Roman"/>
                <a:cs typeface="Times New Roman"/>
              </a:rPr>
              <a:t>Team</a:t>
            </a:r>
            <a:r>
              <a:rPr dirty="0" sz="1000" spc="245" b="1">
                <a:solidFill>
                  <a:srgbClr val="077BFE"/>
                </a:solidFill>
                <a:latin typeface="Times New Roman"/>
                <a:cs typeface="Times New Roman"/>
              </a:rPr>
              <a:t> </a:t>
            </a:r>
            <a:r>
              <a:rPr dirty="0" sz="1000" spc="70" b="1">
                <a:solidFill>
                  <a:srgbClr val="077BFE"/>
                </a:solidFill>
                <a:latin typeface="Times New Roman"/>
                <a:cs typeface="Times New Roman"/>
              </a:rPr>
              <a:t>MaaSathi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IBM</a:t>
            </a:r>
            <a:r>
              <a:rPr dirty="0" sz="800" spc="16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SkillsBuild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Project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·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Ready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for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Live</a:t>
            </a:r>
            <a:r>
              <a:rPr dirty="0" sz="800" spc="14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Prototype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76879C"/>
                </a:solidFill>
                <a:latin typeface="Times New Roman"/>
                <a:cs typeface="Times New Roman"/>
              </a:rPr>
              <a:t>Demo</a:t>
            </a:r>
            <a:r>
              <a:rPr dirty="0" sz="800" spc="15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800" spc="20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Q&amp;A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336" y="6481051"/>
            <a:ext cx="4028440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 spc="55">
                <a:solidFill>
                  <a:srgbClr val="76879C"/>
                </a:solidFill>
                <a:latin typeface="Times New Roman"/>
                <a:cs typeface="Times New Roman"/>
              </a:rPr>
              <a:t>Smart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76879C"/>
                </a:solidFill>
                <a:latin typeface="Times New Roman"/>
                <a:cs typeface="Times New Roman"/>
              </a:rPr>
              <a:t>Maternal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Health</a:t>
            </a:r>
            <a:r>
              <a:rPr dirty="0" sz="800" spc="13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Innovation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·</a:t>
            </a:r>
            <a:r>
              <a:rPr dirty="0" sz="800" spc="10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All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clinical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data</a:t>
            </a:r>
            <a:r>
              <a:rPr dirty="0" sz="800" spc="12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aligned</a:t>
            </a:r>
            <a:r>
              <a:rPr dirty="0" sz="800" spc="13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50">
                <a:solidFill>
                  <a:srgbClr val="76879C"/>
                </a:solidFill>
                <a:latin typeface="Times New Roman"/>
                <a:cs typeface="Times New Roman"/>
              </a:rPr>
              <a:t>with</a:t>
            </a:r>
            <a:r>
              <a:rPr dirty="0" sz="800" spc="12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85">
                <a:solidFill>
                  <a:srgbClr val="76879C"/>
                </a:solidFill>
                <a:latin typeface="Times New Roman"/>
                <a:cs typeface="Times New Roman"/>
              </a:rPr>
              <a:t>WHO</a:t>
            </a:r>
            <a:r>
              <a:rPr dirty="0" sz="800" spc="19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&amp;</a:t>
            </a:r>
            <a:r>
              <a:rPr dirty="0" sz="800" spc="204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76879C"/>
                </a:solidFill>
                <a:latin typeface="Times New Roman"/>
                <a:cs typeface="Times New Roman"/>
              </a:rPr>
              <a:t>ICMR </a:t>
            </a:r>
            <a:r>
              <a:rPr dirty="0" sz="800" spc="90">
                <a:solidFill>
                  <a:srgbClr val="76879C"/>
                </a:solidFill>
                <a:latin typeface="Times New Roman"/>
                <a:cs typeface="Times New Roman"/>
              </a:rPr>
              <a:t>benchmar</a:t>
            </a:r>
            <a:r>
              <a:rPr dirty="0" sz="800" spc="-8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35">
                <a:solidFill>
                  <a:srgbClr val="76879C"/>
                </a:solidFill>
                <a:latin typeface="Times New Roman"/>
                <a:cs typeface="Times New Roman"/>
              </a:rPr>
              <a:t>ks. 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36140" y="6481051"/>
            <a:ext cx="803910" cy="28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Te</a:t>
            </a:r>
            <a:r>
              <a:rPr dirty="0" sz="800" spc="-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a</a:t>
            </a:r>
            <a:r>
              <a:rPr dirty="0" sz="800" spc="-85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76879C"/>
                </a:solidFill>
                <a:latin typeface="Times New Roman"/>
                <a:cs typeface="Times New Roman"/>
              </a:rPr>
              <a:t>m</a:t>
            </a:r>
            <a:r>
              <a:rPr dirty="0" sz="800" spc="80">
                <a:solidFill>
                  <a:srgbClr val="76879C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76879C"/>
                </a:solidFill>
                <a:latin typeface="Times New Roman"/>
                <a:cs typeface="Times New Roman"/>
              </a:rPr>
              <a:t>MaaSathi </a:t>
            </a:r>
            <a:r>
              <a:rPr dirty="0" sz="800" spc="70">
                <a:solidFill>
                  <a:srgbClr val="76879C"/>
                </a:solidFill>
                <a:latin typeface="Times New Roman"/>
                <a:cs typeface="Times New Roman"/>
              </a:rPr>
              <a:t>Presentation 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82024" y="2915146"/>
            <a:ext cx="3242945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 b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dirty="0" sz="4700" spc="-2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700" spc="-95" b="0">
                <a:solidFill>
                  <a:srgbClr val="000000"/>
                </a:solidFill>
                <a:latin typeface="Times New Roman"/>
                <a:cs typeface="Times New Roman"/>
              </a:rPr>
              <a:t>You…</a:t>
            </a:r>
            <a:endParaRPr sz="47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7824" y="3004046"/>
            <a:ext cx="596900" cy="596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IBM_SkillsBuild 1</dc:title>
  <dcterms:created xsi:type="dcterms:W3CDTF">2026-08-30T10:51:43Z</dcterms:created>
  <dcterms:modified xsi:type="dcterms:W3CDTF">2026-08-30T10:51:43Z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Pages</vt:lpwstr>
  </property>
  <property fmtid="{D5CDD505-2E9C-101B-9397-08002B2CF9AE}" pid="5" name="LastSaved">
    <vt:filetime>2026-08-30T00:00:00Z</vt:filetime>
  </property>
  <property fmtid="{D5CDD505-2E9C-101B-9397-08002B2CF9AE}" pid="6" name="Producer">
    <vt:lpwstr>macOS Version 26.6.2 (Build 25G83) Quartz PDFContext</vt:lpwstr>
  </property>
</Properties>
</file>